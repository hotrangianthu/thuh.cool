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Active enterprises</c:v>
                </c:pt>
              </c:strCache>
            </c:strRef>
          </c:tx>
          <c:spPr>
            <a:solidFill>
              <a:srgbClr val="0B3D2A"/>
            </a:solidFill>
            <a:ln w="29210" cap="flat">
              <a:solidFill>
                <a:srgbClr val="0B3D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B3D2A"/>
              </a:solidFill>
              <a:ln w="9525" cap="flat">
                <a:solidFill>
                  <a:srgbClr val="0B3D2A"/>
                </a:solidFill>
                <a:prstDash val="solid"/>
                <a:round/>
              </a:ln>
              <a:effectLst/>
            </c:spPr>
          </c:marker>
          <c:cat>
            <c:multiLvlStrRef>
              <c:f>Sheet1!$A$2:$A$4</c:f>
              <c:multiLvlStrCache>
                <c:ptCount val="3"/>
                <c:lvl>
                  <c:pt idx="0">
                    <c:v>2020</c:v>
                  </c:pt>
                  <c:pt idx="1">
                    <c:v>2024</c:v>
                  </c:pt>
                  <c:pt idx="2">
                    <c:v>2025</c:v>
                  </c:pt>
                </c:lvl>
              </c:multiLvlStrCache>
            </c:multiLvlStrRef>
          </c:cat>
          <c:val>
            <c:numRef>
              <c:f>Sheet1!$B$2:$B$4</c:f>
              <c:numCache>
                <c:formatCode>General</c:formatCode>
                <c:ptCount val="3"/>
                <c:pt idx="0">
                  <c:v>100</c:v>
                </c:pt>
                <c:pt idx="1">
                  <c:v>122.6</c:v>
                </c:pt>
                <c:pt idx="2">
                  <c:v>125.5</c:v>
                </c:pt>
              </c:numCache>
            </c:numRef>
          </c:val>
          <c:smooth val="0"/>
        </c:ser>
        <c:ser>
          <c:idx val="1"/>
          <c:order val="1"/>
          <c:tx>
            <c:strRef>
              <c:f>Sheet1!$C$1</c:f>
              <c:strCache>
                <c:ptCount val="1"/>
                <c:pt idx="0">
                  <c:v>Employment</c:v>
                </c:pt>
              </c:strCache>
            </c:strRef>
          </c:tx>
          <c:spPr>
            <a:solidFill>
              <a:srgbClr val="66746B"/>
            </a:solidFill>
            <a:ln w="29210" cap="flat">
              <a:solidFill>
                <a:srgbClr val="6674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6746B"/>
              </a:solidFill>
              <a:ln w="9525" cap="flat">
                <a:solidFill>
                  <a:srgbClr val="66746B"/>
                </a:solidFill>
                <a:prstDash val="solid"/>
                <a:round/>
              </a:ln>
              <a:effectLst/>
            </c:spPr>
          </c:marker>
          <c:cat>
            <c:multiLvlStrRef>
              <c:f>Sheet1!$A$2:$A$4</c:f>
              <c:multiLvlStrCache>
                <c:ptCount val="3"/>
                <c:lvl>
                  <c:pt idx="0">
                    <c:v>2020</c:v>
                  </c:pt>
                  <c:pt idx="1">
                    <c:v>2024</c:v>
                  </c:pt>
                  <c:pt idx="2">
                    <c:v>2025</c:v>
                  </c:pt>
                </c:lvl>
              </c:multiLvlStrCache>
            </c:multiLvlStrRef>
          </c:cat>
          <c:val>
            <c:numRef>
              <c:f>Sheet1!$C$2:$C$4</c:f>
              <c:numCache>
                <c:formatCode>General</c:formatCode>
                <c:ptCount val="3"/>
                <c:pt idx="0">
                  <c:v>100</c:v>
                </c:pt>
                <c:pt idx="1">
                  <c:v>111.3</c:v>
                </c:pt>
                <c:pt idx="2">
                  <c:v>119.7</c:v>
                </c:pt>
              </c:numCache>
            </c:numRef>
          </c:val>
          <c:smooth val="0"/>
        </c:ser>
        <c:ser>
          <c:idx val="2"/>
          <c:order val="2"/>
          <c:tx>
            <c:strRef>
              <c:f>Sheet1!$D$1</c:f>
              <c:strCache>
                <c:ptCount val="1"/>
                <c:pt idx="0">
                  <c:v>Capital</c:v>
                </c:pt>
              </c:strCache>
            </c:strRef>
          </c:tx>
          <c:spPr>
            <a:solidFill>
              <a:srgbClr val="C6A447"/>
            </a:solidFill>
            <a:ln w="29210" cap="flat">
              <a:solidFill>
                <a:srgbClr val="C6A44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6A447"/>
              </a:solidFill>
              <a:ln w="9525" cap="flat">
                <a:solidFill>
                  <a:srgbClr val="C6A447"/>
                </a:solidFill>
                <a:prstDash val="solid"/>
                <a:round/>
              </a:ln>
              <a:effectLst/>
            </c:spPr>
          </c:marker>
          <c:cat>
            <c:multiLvlStrRef>
              <c:f>Sheet1!$A$2:$A$4</c:f>
              <c:multiLvlStrCache>
                <c:ptCount val="3"/>
                <c:lvl>
                  <c:pt idx="0">
                    <c:v>2020</c:v>
                  </c:pt>
                  <c:pt idx="1">
                    <c:v>2024</c:v>
                  </c:pt>
                  <c:pt idx="2">
                    <c:v>2025</c:v>
                  </c:pt>
                </c:lvl>
              </c:multiLvlStrCache>
            </c:multiLvlStrRef>
          </c:cat>
          <c:val>
            <c:numRef>
              <c:f>Sheet1!$D$2:$D$4</c:f>
              <c:numCache>
                <c:formatCode>General</c:formatCode>
                <c:ptCount val="3"/>
                <c:pt idx="0">
                  <c:v>100</c:v>
                </c:pt>
                <c:pt idx="1">
                  <c:v>148.4</c:v>
                </c:pt>
                <c:pt idx="2">
                  <c:v>169.9</c:v>
                </c:pt>
              </c:numCache>
            </c:numRef>
          </c:val>
          <c:smooth val="0"/>
        </c:ser>
        <c:ser>
          <c:idx val="3"/>
          <c:order val="3"/>
          <c:tx>
            <c:strRef>
              <c:f>Sheet1!$E$1</c:f>
              <c:strCache>
                <c:ptCount val="1"/>
                <c:pt idx="0">
                  <c:v>Revenue</c:v>
                </c:pt>
              </c:strCache>
            </c:strRef>
          </c:tx>
          <c:spPr>
            <a:solidFill>
              <a:srgbClr val="14543B"/>
            </a:solidFill>
            <a:ln w="29210" cap="flat">
              <a:solidFill>
                <a:srgbClr val="145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543B"/>
              </a:solidFill>
              <a:ln w="9525" cap="flat">
                <a:solidFill>
                  <a:srgbClr val="14543B"/>
                </a:solidFill>
                <a:prstDash val="solid"/>
                <a:round/>
              </a:ln>
              <a:effectLst/>
            </c:spPr>
          </c:marker>
          <c:cat>
            <c:multiLvlStrRef>
              <c:f>Sheet1!$A$2:$A$4</c:f>
              <c:multiLvlStrCache>
                <c:ptCount val="3"/>
                <c:lvl>
                  <c:pt idx="0">
                    <c:v>2020</c:v>
                  </c:pt>
                  <c:pt idx="1">
                    <c:v>2024</c:v>
                  </c:pt>
                  <c:pt idx="2">
                    <c:v>2025</c:v>
                  </c:pt>
                </c:lvl>
              </c:multiLvlStrCache>
            </c:multiLvlStrRef>
          </c:cat>
          <c:val>
            <c:numRef>
              <c:f>Sheet1!$E$2:$E$4</c:f>
              <c:numCache>
                <c:formatCode>General</c:formatCode>
                <c:ptCount val="3"/>
                <c:pt idx="0">
                  <c:v>100</c:v>
                </c:pt>
                <c:pt idx="1">
                  <c:v>146.4</c:v>
                </c:pt>
                <c:pt idx="2">
                  <c:v>165.6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7211B"/>
                </a:solidFill>
                <a:latin typeface="Roboto"/>
              </a:defRPr>
            </a:pPr>
            <a:endParaRPr lang="en-US"/>
          </a:p>
        </c:txPr>
        <c:crossAx val="2094734552"/>
        <c:crosses val="autoZero"/>
        <c:auto val="1"/>
        <c:lblAlgn val="ctr"/>
        <c:noMultiLvlLbl val="1"/>
      </c:catAx>
      <c:valAx>
        <c:axId val="2094734552"/>
        <c:scaling>
          <c:orientation val="minMax"/>
          <c:max val="180"/>
          <c:min val="9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746B"/>
                </a:solidFill>
                <a:latin typeface="Roboto"/>
              </a:defRPr>
            </a:pPr>
            <a:endParaRPr lang="en-US"/>
          </a:p>
        </c:txPr>
        <c:crossAx val="2094734554"/>
        <c:crosses val="autoZero"/>
        <c:crossBetween val="between"/>
        <c:majorUnit val="10"/>
      </c:valAx>
      <c:spPr>
        <a:noFill/>
        <a:ln>
          <a:noFill/>
        </a:ln>
        <a:effectLst/>
      </c:spPr>
    </c:plotArea>
    <c:legend>
      <c:legendPos val="b"/>
      <c:overlay val="0"/>
      <c:txPr>
        <a:bodyPr/>
        <a:lstStyle/>
        <a:p>
          <a:pPr>
            <a:defRPr sz="800">
              <a:latin typeface="Roboto"/>
              <a:cs typeface="Robot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Enterprise share</c:v>
                </c:pt>
              </c:strCache>
            </c:strRef>
          </c:tx>
          <c:spPr>
            <a:solidFill>
              <a:schemeClr val="accent1"/>
            </a:solidFill>
            <a:ln w="9525" cap="flat">
              <a:solidFill>
                <a:srgbClr val="F9F9F9"/>
              </a:solidFill>
              <a:prstDash val="solid"/>
              <a:round/>
            </a:ln>
            <a:effectLst/>
          </c:spPr>
          <c:dPt>
            <c:idx val="0"/>
            <c:bubble3D val="0"/>
            <c:spPr>
              <a:solidFill>
                <a:srgbClr val="0B3D2A"/>
              </a:solidFill>
              <a:effectLst/>
            </c:spPr>
          </c:dPt>
          <c:dPt>
            <c:idx val="1"/>
            <c:bubble3D val="0"/>
            <c:spPr>
              <a:solidFill>
                <a:srgbClr val="C6A447"/>
              </a:solidFill>
              <a:effectLst/>
            </c:spPr>
          </c:dPt>
          <c:dPt>
            <c:idx val="2"/>
            <c:bubble3D val="0"/>
            <c:spPr>
              <a:solidFill>
                <a:srgbClr val="66746B"/>
              </a:solidFill>
              <a:effectLst/>
            </c:spPr>
          </c:dPt>
          <c:dLbls>
            <c:dLbl>
              <c:idx val="0"/>
              <c:numFmt formatCode="0%" sourceLinked="0"/>
              <c:spPr/>
              <c:txPr>
                <a:bodyPr/>
                <a:lstStyle/>
                <a:p>
                  <a:pPr>
                    <a:defRPr sz="900" b="0" i="0" u="none" strike="noStrike">
                      <a:solidFill>
                        <a:srgbClr val="17211B"/>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17211B"/>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17211B"/>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Non-state</c:v>
                </c:pt>
                <c:pt idx="1">
                  <c:v>FDI</c:v>
                </c:pt>
                <c:pt idx="2">
                  <c:v>State-owned</c:v>
                </c:pt>
              </c:strCache>
            </c:strRef>
          </c:cat>
          <c:val>
            <c:numRef>
              <c:f>Sheet1!$B$2:$B$4</c:f>
              <c:numCache>
                <c:ptCount val="3"/>
                <c:pt idx="0">
                  <c:v>827.5</c:v>
                </c:pt>
                <c:pt idx="1">
                  <c:v>29.8</c:v>
                </c:pt>
                <c:pt idx="2">
                  <c:v>1.77</c:v>
                </c:pt>
              </c:numCache>
            </c:numRef>
          </c:val>
        </c:ser>
        <c:firstSliceAng val="0"/>
        <c:holeSize val="63"/>
      </c:doughnutChart>
      <c:spPr>
        <a:noFill/>
        <a:ln>
          <a:noFill/>
        </a:ln>
        <a:effectLst/>
      </c:spPr>
    </c:plotArea>
    <c:legend>
      <c:legendPos val="b"/>
      <c:overlay val="0"/>
      <c:txPr>
        <a:bodyPr/>
        <a:lstStyle/>
        <a:p>
          <a:pPr>
            <a:defRPr sz="800">
              <a:latin typeface="Roboto"/>
              <a:cs typeface="Robot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Services</c:v>
                </c:pt>
              </c:strCache>
            </c:strRef>
          </c:tx>
          <c:spPr>
            <a:solidFill>
              <a:srgbClr val="0B3D2A"/>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Enterprise count</c:v>
                  </c:pt>
                  <c:pt idx="1">
                    <c:v>Employment</c:v>
                  </c:pt>
                  <c:pt idx="2">
                    <c:v>Capital</c:v>
                  </c:pt>
                  <c:pt idx="3">
                    <c:v>Revenue</c:v>
                  </c:pt>
                </c:lvl>
              </c:multiLvlStrCache>
            </c:multiLvlStrRef>
          </c:cat>
          <c:val>
            <c:numRef>
              <c:f>Sheet1!$B$2:$B$5</c:f>
              <c:numCache>
                <c:formatCode>General</c:formatCode>
                <c:ptCount val="4"/>
                <c:pt idx="0">
                  <c:v>71.3</c:v>
                </c:pt>
                <c:pt idx="1">
                  <c:v>39.7</c:v>
                </c:pt>
                <c:pt idx="2">
                  <c:v>72</c:v>
                </c:pt>
                <c:pt idx="3">
                  <c:v>51</c:v>
                </c:pt>
              </c:numCache>
            </c:numRef>
          </c:val>
        </c:ser>
        <c:ser>
          <c:idx val="1"/>
          <c:order val="1"/>
          <c:tx>
            <c:strRef>
              <c:f>Sheet1!$C$1</c:f>
              <c:strCache>
                <c:ptCount val="1"/>
                <c:pt idx="0">
                  <c:v>Industry &amp; construction</c:v>
                </c:pt>
              </c:strCache>
            </c:strRef>
          </c:tx>
          <c:spPr>
            <a:solidFill>
              <a:srgbClr val="C6A447"/>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Enterprise count</c:v>
                  </c:pt>
                  <c:pt idx="1">
                    <c:v>Employment</c:v>
                  </c:pt>
                  <c:pt idx="2">
                    <c:v>Capital</c:v>
                  </c:pt>
                  <c:pt idx="3">
                    <c:v>Revenue</c:v>
                  </c:pt>
                </c:lvl>
              </c:multiLvlStrCache>
            </c:multiLvlStrRef>
          </c:cat>
          <c:val>
            <c:numRef>
              <c:f>Sheet1!$C$2:$C$5</c:f>
              <c:numCache>
                <c:formatCode>General</c:formatCode>
                <c:ptCount val="4"/>
                <c:pt idx="0">
                  <c:v>28</c:v>
                </c:pt>
                <c:pt idx="1">
                  <c:v>59</c:v>
                </c:pt>
                <c:pt idx="2">
                  <c:v>27.3</c:v>
                </c:pt>
                <c:pt idx="3">
                  <c:v>48.4</c:v>
                </c:pt>
              </c:numCache>
            </c:numRef>
          </c:val>
        </c:ser>
        <c:ser>
          <c:idx val="2"/>
          <c:order val="2"/>
          <c:tx>
            <c:strRef>
              <c:f>Sheet1!$D$1</c:f>
              <c:strCache>
                <c:ptCount val="1"/>
                <c:pt idx="0">
                  <c:v>Agriculture</c:v>
                </c:pt>
              </c:strCache>
            </c:strRef>
          </c:tx>
          <c:spPr>
            <a:solidFill>
              <a:srgbClr val="66746B"/>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Enterprise count</c:v>
                  </c:pt>
                  <c:pt idx="1">
                    <c:v>Employment</c:v>
                  </c:pt>
                  <c:pt idx="2">
                    <c:v>Capital</c:v>
                  </c:pt>
                  <c:pt idx="3">
                    <c:v>Revenue</c:v>
                  </c:pt>
                </c:lvl>
              </c:multiLvlStrCache>
            </c:multiLvlStrRef>
          </c:cat>
          <c:val>
            <c:numRef>
              <c:f>Sheet1!$D$2:$D$5</c:f>
              <c:numCache>
                <c:formatCode>General</c:formatCode>
                <c:ptCount val="4"/>
                <c:pt idx="0">
                  <c:v>0.7</c:v>
                </c:pt>
                <c:pt idx="1">
                  <c:v>1.3</c:v>
                </c:pt>
                <c:pt idx="2">
                  <c:v>0.7</c:v>
                </c:pt>
                <c:pt idx="3">
                  <c:v>0.6</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7211B"/>
                </a:solidFill>
                <a:latin typeface="Roboto"/>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6746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800">
              <a:latin typeface="Roboto"/>
              <a:cs typeface="Roboto"/>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Employees per enterprise</c:v>
                </c:pt>
              </c:strCache>
            </c:strRef>
          </c:tx>
          <c:spPr>
            <a:solidFill>
              <a:srgbClr val="0B3D2A"/>
            </a:solidFill>
            <a:effectLst/>
          </c:spPr>
          <c:invertIfNegative val="0"/>
          <c:dLbls>
            <c:numFmt formatCode="#,##0" sourceLinked="0"/>
            <c:txPr>
              <a:bodyPr/>
              <a:lstStyle/>
              <a:p>
                <a:pPr>
                  <a:defRPr b="0" i="0" strike="noStrike" sz="900" u="none">
                    <a:solidFill>
                      <a:srgbClr val="17211B"/>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State-owned</c:v>
                  </c:pt>
                  <c:pt idx="1">
                    <c:v>FDI</c:v>
                  </c:pt>
                  <c:pt idx="2">
                    <c:v>All enterprises</c:v>
                  </c:pt>
                  <c:pt idx="3">
                    <c:v>Non-state</c:v>
                  </c:pt>
                </c:lvl>
              </c:multiLvlStrCache>
            </c:multiLvlStrRef>
          </c:cat>
          <c:val>
            <c:numRef>
              <c:f>Sheet1!$B$2:$B$5</c:f>
              <c:numCache>
                <c:formatCode>General</c:formatCode>
                <c:ptCount val="4"/>
                <c:pt idx="0">
                  <c:v>553.7</c:v>
                </c:pt>
                <c:pt idx="1">
                  <c:v>206.4</c:v>
                </c:pt>
                <c:pt idx="2">
                  <c:v>20.5</c:v>
                </c:pt>
                <c:pt idx="3">
                  <c:v>12.6</c:v>
                </c:pt>
              </c:numCache>
            </c:numRef>
          </c:val>
        </c:ser>
        <c:dLbls>
          <c:numFmt formatCode="#,##0" sourceLinked="0"/>
          <c:txPr>
            <a:bodyPr/>
            <a:lstStyle/>
            <a:p>
              <a:pPr>
                <a:defRPr b="0" i="0" strike="noStrike" sz="900" u="none">
                  <a:solidFill>
                    <a:srgbClr val="1721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7211B"/>
                </a:solidFill>
                <a:latin typeface="Roboto"/>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Recent pace (4.7%)</c:v>
                </c:pt>
              </c:strCache>
            </c:strRef>
          </c:tx>
          <c:spPr>
            <a:solidFill>
              <a:srgbClr val="66746B"/>
            </a:solidFill>
            <a:ln w="31750" cap="flat">
              <a:solidFill>
                <a:srgbClr val="6674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6746B"/>
              </a:solidFill>
              <a:ln w="9525" cap="flat">
                <a:solidFill>
                  <a:srgbClr val="66746B"/>
                </a:solidFill>
                <a:prstDash val="solid"/>
                <a:round/>
              </a:ln>
              <a:effectLst/>
            </c:spPr>
          </c:marker>
          <c:cat>
            <c:multiLvlStrRef>
              <c:f>Sheet1!$A$2:$A$7</c:f>
              <c:multiLvlStrCache>
                <c:ptCount val="6"/>
                <c:lvl>
                  <c:pt idx="0">
                    <c:v>2025</c:v>
                  </c:pt>
                  <c:pt idx="1">
                    <c:v>2026</c:v>
                  </c:pt>
                  <c:pt idx="2">
                    <c:v>2027</c:v>
                  </c:pt>
                  <c:pt idx="3">
                    <c:v>2028</c:v>
                  </c:pt>
                  <c:pt idx="4">
                    <c:v>2029</c:v>
                  </c:pt>
                  <c:pt idx="5">
                    <c:v>2030</c:v>
                  </c:pt>
                </c:lvl>
              </c:multiLvlStrCache>
            </c:multiLvlStrRef>
          </c:cat>
          <c:val>
            <c:numRef>
              <c:f>Sheet1!$B$2:$B$7</c:f>
              <c:numCache>
                <c:formatCode>General</c:formatCode>
                <c:ptCount val="6"/>
                <c:pt idx="0">
                  <c:v>859</c:v>
                </c:pt>
                <c:pt idx="1">
                  <c:v>899</c:v>
                </c:pt>
                <c:pt idx="2">
                  <c:v>942</c:v>
                </c:pt>
                <c:pt idx="3">
                  <c:v>986</c:v>
                </c:pt>
                <c:pt idx="4">
                  <c:v>1032</c:v>
                </c:pt>
                <c:pt idx="5">
                  <c:v>1081</c:v>
                </c:pt>
              </c:numCache>
            </c:numRef>
          </c:val>
          <c:smooth val="0"/>
        </c:ser>
        <c:ser>
          <c:idx val="1"/>
          <c:order val="1"/>
          <c:tx>
            <c:strRef>
              <c:f>Sheet1!$C$1</c:f>
              <c:strCache>
                <c:ptCount val="1"/>
                <c:pt idx="0">
                  <c:v>Accelerated (12%)</c:v>
                </c:pt>
              </c:strCache>
            </c:strRef>
          </c:tx>
          <c:spPr>
            <a:solidFill>
              <a:srgbClr val="C6A447"/>
            </a:solidFill>
            <a:ln w="31750" cap="flat">
              <a:solidFill>
                <a:srgbClr val="C6A44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6A447"/>
              </a:solidFill>
              <a:ln w="9525" cap="flat">
                <a:solidFill>
                  <a:srgbClr val="C6A447"/>
                </a:solidFill>
                <a:prstDash val="solid"/>
                <a:round/>
              </a:ln>
              <a:effectLst/>
            </c:spPr>
          </c:marker>
          <c:cat>
            <c:multiLvlStrRef>
              <c:f>Sheet1!$A$2:$A$7</c:f>
              <c:multiLvlStrCache>
                <c:ptCount val="6"/>
                <c:lvl>
                  <c:pt idx="0">
                    <c:v>2025</c:v>
                  </c:pt>
                  <c:pt idx="1">
                    <c:v>2026</c:v>
                  </c:pt>
                  <c:pt idx="2">
                    <c:v>2027</c:v>
                  </c:pt>
                  <c:pt idx="3">
                    <c:v>2028</c:v>
                  </c:pt>
                  <c:pt idx="4">
                    <c:v>2029</c:v>
                  </c:pt>
                  <c:pt idx="5">
                    <c:v>2030</c:v>
                  </c:pt>
                </c:lvl>
              </c:multiLvlStrCache>
            </c:multiLvlStrRef>
          </c:cat>
          <c:val>
            <c:numRef>
              <c:f>Sheet1!$C$2:$C$7</c:f>
              <c:numCache>
                <c:formatCode>General</c:formatCode>
                <c:ptCount val="6"/>
                <c:pt idx="0">
                  <c:v>859</c:v>
                </c:pt>
                <c:pt idx="1">
                  <c:v>962</c:v>
                </c:pt>
                <c:pt idx="2">
                  <c:v>1078</c:v>
                </c:pt>
                <c:pt idx="3">
                  <c:v>1207</c:v>
                </c:pt>
                <c:pt idx="4">
                  <c:v>1352</c:v>
                </c:pt>
                <c:pt idx="5">
                  <c:v>1514</c:v>
                </c:pt>
              </c:numCache>
            </c:numRef>
          </c:val>
          <c:smooth val="0"/>
        </c:ser>
        <c:ser>
          <c:idx val="2"/>
          <c:order val="2"/>
          <c:tx>
            <c:strRef>
              <c:f>Sheet1!$D$1</c:f>
              <c:strCache>
                <c:ptCount val="1"/>
                <c:pt idx="0">
                  <c:v>Target path (18.4%)</c:v>
                </c:pt>
              </c:strCache>
            </c:strRef>
          </c:tx>
          <c:spPr>
            <a:solidFill>
              <a:srgbClr val="0B3D2A"/>
            </a:solidFill>
            <a:ln w="31750" cap="flat">
              <a:solidFill>
                <a:srgbClr val="0B3D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B3D2A"/>
              </a:solidFill>
              <a:ln w="9525" cap="flat">
                <a:solidFill>
                  <a:srgbClr val="0B3D2A"/>
                </a:solidFill>
                <a:prstDash val="solid"/>
                <a:round/>
              </a:ln>
              <a:effectLst/>
            </c:spPr>
          </c:marker>
          <c:cat>
            <c:multiLvlStrRef>
              <c:f>Sheet1!$A$2:$A$7</c:f>
              <c:multiLvlStrCache>
                <c:ptCount val="6"/>
                <c:lvl>
                  <c:pt idx="0">
                    <c:v>2025</c:v>
                  </c:pt>
                  <c:pt idx="1">
                    <c:v>2026</c:v>
                  </c:pt>
                  <c:pt idx="2">
                    <c:v>2027</c:v>
                  </c:pt>
                  <c:pt idx="3">
                    <c:v>2028</c:v>
                  </c:pt>
                  <c:pt idx="4">
                    <c:v>2029</c:v>
                  </c:pt>
                  <c:pt idx="5">
                    <c:v>2030</c:v>
                  </c:pt>
                </c:lvl>
              </c:multiLvlStrCache>
            </c:multiLvlStrRef>
          </c:cat>
          <c:val>
            <c:numRef>
              <c:f>Sheet1!$D$2:$D$7</c:f>
              <c:numCache>
                <c:formatCode>General</c:formatCode>
                <c:ptCount val="6"/>
                <c:pt idx="0">
                  <c:v>859</c:v>
                </c:pt>
                <c:pt idx="1">
                  <c:v>1017</c:v>
                </c:pt>
                <c:pt idx="2">
                  <c:v>1204</c:v>
                </c:pt>
                <c:pt idx="3">
                  <c:v>1426</c:v>
                </c:pt>
                <c:pt idx="4">
                  <c:v>1689</c:v>
                </c:pt>
                <c:pt idx="5">
                  <c:v>2000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7211B"/>
                </a:solidFill>
                <a:latin typeface="Roboto"/>
              </a:defRPr>
            </a:pPr>
            <a:endParaRPr lang="en-US"/>
          </a:p>
        </c:txPr>
        <c:crossAx val="2094734552"/>
        <c:crosses val="autoZero"/>
        <c:auto val="1"/>
        <c:lblAlgn val="ctr"/>
        <c:noMultiLvlLbl val="1"/>
      </c:catAx>
      <c:valAx>
        <c:axId val="2094734552"/>
        <c:scaling>
          <c:orientation val="minMax"/>
          <c:max val="2100"/>
          <c:min val="7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746B"/>
                </a:solidFill>
                <a:latin typeface="Roboto"/>
              </a:defRPr>
            </a:pPr>
            <a:endParaRPr lang="en-US"/>
          </a:p>
        </c:txPr>
        <c:crossAx val="2094734554"/>
        <c:crosses val="autoZero"/>
        <c:crossBetween val="between"/>
        <c:majorUnit val="200"/>
      </c:valAx>
      <c:spPr>
        <a:noFill/>
        <a:ln>
          <a:noFill/>
        </a:ln>
        <a:effectLst/>
      </c:spPr>
    </c:plotArea>
    <c:legend>
      <c:legendPos val="b"/>
      <c:overlay val="0"/>
      <c:txPr>
        <a:bodyPr/>
        <a:lstStyle/>
        <a:p>
          <a:pPr>
            <a:defRPr sz="800">
              <a:latin typeface="Roboto"/>
              <a:cs typeface="Robot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416"/>
        </a:solidFill>
      </p:bgPr>
    </p:bg>
    <p:spTree>
      <p:nvGrpSpPr>
        <p:cNvPr id="1" name=""/>
        <p:cNvGrpSpPr/>
        <p:nvPr/>
      </p:nvGrpSpPr>
      <p:grpSpPr>
        <a:xfrm>
          <a:off x="0" y="0"/>
          <a:ext cx="0" cy="0"/>
          <a:chOff x="0" y="0"/>
          <a:chExt cx="0" cy="0"/>
        </a:xfrm>
      </p:grpSpPr>
      <p:sp>
        <p:nvSpPr>
          <p:cNvPr id="2" name="Text 0"/>
          <p:cNvSpPr/>
          <p:nvPr/>
        </p:nvSpPr>
        <p:spPr>
          <a:xfrm>
            <a:off x="475488" y="438912"/>
            <a:ext cx="7315200" cy="256032"/>
          </a:xfrm>
          <a:prstGeom prst="rect">
            <a:avLst/>
          </a:prstGeom>
          <a:noFill/>
          <a:ln/>
        </p:spPr>
        <p:txBody>
          <a:bodyPr wrap="square" lIns="0" tIns="0" rIns="0" bIns="0" rtlCol="0" anchor="ctr"/>
          <a:lstStyle/>
          <a:p>
            <a:pPr indent="0" marL="0">
              <a:buNone/>
            </a:pPr>
            <a:r>
              <a:rPr lang="en-US" sz="900" b="1" spc="140" kern="0" dirty="0">
                <a:solidFill>
                  <a:srgbClr val="C6A447"/>
                </a:solidFill>
                <a:latin typeface="Roboto" pitchFamily="34" charset="0"/>
                <a:ea typeface="Roboto" pitchFamily="34" charset="-122"/>
                <a:cs typeface="Roboto" pitchFamily="34" charset="-120"/>
              </a:rPr>
              <a:t>VIETNAM ENTERPRISE LANDSCAPE · JULY 2026</a:t>
            </a:r>
            <a:endParaRPr lang="en-US" sz="900" dirty="0"/>
          </a:p>
        </p:txBody>
      </p:sp>
      <p:sp>
        <p:nvSpPr>
          <p:cNvPr id="3" name="Text 1"/>
          <p:cNvSpPr/>
          <p:nvPr/>
        </p:nvSpPr>
        <p:spPr>
          <a:xfrm>
            <a:off x="475488" y="1133856"/>
            <a:ext cx="10515600" cy="1417320"/>
          </a:xfrm>
          <a:prstGeom prst="rect">
            <a:avLst/>
          </a:prstGeom>
          <a:noFill/>
          <a:ln/>
        </p:spPr>
        <p:txBody>
          <a:bodyPr wrap="square" lIns="0" tIns="0" rIns="0" bIns="0" rtlCol="0" anchor="t"/>
          <a:lstStyle/>
          <a:p>
            <a:pPr indent="0" marL="0">
              <a:buNone/>
            </a:pPr>
            <a:r>
              <a:rPr lang="en-US" sz="3100" b="1" dirty="0">
                <a:solidFill>
                  <a:srgbClr val="F6F1DF"/>
                </a:solidFill>
                <a:latin typeface="Roboto" pitchFamily="34" charset="0"/>
                <a:ea typeface="Roboto" pitchFamily="34" charset="-122"/>
                <a:cs typeface="Roboto" pitchFamily="34" charset="-120"/>
              </a:rPr>
              <a:t>Vietnam’s enterprise base is expanding,</a:t>
            </a:r>
            <a:endParaRPr lang="en-US" sz="3100" dirty="0"/>
          </a:p>
          <a:p>
            <a:pPr indent="0" marL="0">
              <a:buNone/>
            </a:pPr>
            <a:r>
              <a:rPr lang="en-US" sz="3100" b="1" dirty="0">
                <a:solidFill>
                  <a:srgbClr val="F6F1DF"/>
                </a:solidFill>
                <a:latin typeface="Roboto" pitchFamily="34" charset="0"/>
                <a:ea typeface="Roboto" pitchFamily="34" charset="-122"/>
                <a:cs typeface="Roboto" pitchFamily="34" charset="-120"/>
              </a:rPr>
              <a:t>but scale is the binding constraint</a:t>
            </a:r>
            <a:endParaRPr lang="en-US" sz="3100" dirty="0"/>
          </a:p>
        </p:txBody>
      </p:sp>
      <p:sp>
        <p:nvSpPr>
          <p:cNvPr id="4" name="Text 2"/>
          <p:cNvSpPr/>
          <p:nvPr/>
        </p:nvSpPr>
        <p:spPr>
          <a:xfrm>
            <a:off x="502920" y="2907792"/>
            <a:ext cx="9601200" cy="658368"/>
          </a:xfrm>
          <a:prstGeom prst="rect">
            <a:avLst/>
          </a:prstGeom>
          <a:noFill/>
          <a:ln/>
        </p:spPr>
        <p:txBody>
          <a:bodyPr wrap="square" lIns="0" tIns="0" rIns="0" bIns="0" rtlCol="0" anchor="t"/>
          <a:lstStyle/>
          <a:p>
            <a:pPr indent="0" marL="0">
              <a:buNone/>
            </a:pPr>
            <a:r>
              <a:rPr lang="en-US" sz="1400" dirty="0">
                <a:solidFill>
                  <a:srgbClr val="DDE8DF"/>
                </a:solidFill>
                <a:latin typeface="Roboto" pitchFamily="34" charset="0"/>
                <a:ea typeface="Roboto" pitchFamily="34" charset="-122"/>
                <a:cs typeface="Roboto" pitchFamily="34" charset="-120"/>
              </a:rPr>
              <a:t>859,048 active businesses mark a broader formalization shift—yet the 2030 ambition requires survival and productivity to accelerate alongside registrations.</a:t>
            </a:r>
            <a:endParaRPr lang="en-US" sz="1400" dirty="0"/>
          </a:p>
        </p:txBody>
      </p:sp>
      <p:sp>
        <p:nvSpPr>
          <p:cNvPr id="5" name="Shape 3"/>
          <p:cNvSpPr/>
          <p:nvPr/>
        </p:nvSpPr>
        <p:spPr>
          <a:xfrm>
            <a:off x="502920" y="3913632"/>
            <a:ext cx="2743200" cy="0"/>
          </a:xfrm>
          <a:prstGeom prst="line">
            <a:avLst/>
          </a:prstGeom>
          <a:noFill/>
          <a:ln w="12700">
            <a:solidFill>
              <a:srgbClr val="C6A447"/>
            </a:solidFill>
            <a:prstDash val="solid"/>
          </a:ln>
        </p:spPr>
      </p:sp>
      <p:sp>
        <p:nvSpPr>
          <p:cNvPr id="6" name="Text 4"/>
          <p:cNvSpPr/>
          <p:nvPr/>
        </p:nvSpPr>
        <p:spPr>
          <a:xfrm>
            <a:off x="502920" y="4087368"/>
            <a:ext cx="2103120" cy="228600"/>
          </a:xfrm>
          <a:prstGeom prst="rect">
            <a:avLst/>
          </a:prstGeom>
          <a:noFill/>
          <a:ln/>
        </p:spPr>
        <p:txBody>
          <a:bodyPr wrap="square" lIns="0" tIns="0" rIns="0" bIns="0" rtlCol="0" anchor="ctr"/>
          <a:lstStyle/>
          <a:p>
            <a:pPr indent="0" marL="0">
              <a:buNone/>
            </a:pPr>
            <a:r>
              <a:rPr lang="en-US" sz="900" b="1" dirty="0">
                <a:solidFill>
                  <a:srgbClr val="C6A447"/>
                </a:solidFill>
                <a:latin typeface="Roboto" pitchFamily="34" charset="0"/>
                <a:ea typeface="Roboto" pitchFamily="34" charset="-122"/>
                <a:cs typeface="Roboto" pitchFamily="34" charset="-120"/>
              </a:rPr>
              <a:t>MARKET REPORT</a:t>
            </a:r>
            <a:endParaRPr lang="en-US" sz="900" dirty="0"/>
          </a:p>
        </p:txBody>
      </p:sp>
      <p:sp>
        <p:nvSpPr>
          <p:cNvPr id="7" name="Text 5"/>
          <p:cNvSpPr/>
          <p:nvPr/>
        </p:nvSpPr>
        <p:spPr>
          <a:xfrm>
            <a:off x="502920" y="4407408"/>
            <a:ext cx="6217920" cy="274320"/>
          </a:xfrm>
          <a:prstGeom prst="rect">
            <a:avLst/>
          </a:prstGeom>
          <a:noFill/>
          <a:ln/>
        </p:spPr>
        <p:txBody>
          <a:bodyPr wrap="square" lIns="0" tIns="0" rIns="0" bIns="0" rtlCol="0" anchor="ctr"/>
          <a:lstStyle/>
          <a:p>
            <a:pPr indent="0" marL="0">
              <a:buNone/>
            </a:pPr>
            <a:r>
              <a:rPr lang="en-US" sz="950" dirty="0">
                <a:solidFill>
                  <a:srgbClr val="F6F1DF"/>
                </a:solidFill>
                <a:latin typeface="Roboto" pitchFamily="34" charset="0"/>
                <a:ea typeface="Roboto" pitchFamily="34" charset="-122"/>
                <a:cs typeface="Roboto" pitchFamily="34" charset="-120"/>
              </a:rPr>
              <a:t>Preliminary 2026 Economic Census · Data as of 31 Dec 2025</a:t>
            </a:r>
            <a:endParaRPr lang="en-US" sz="950" dirty="0"/>
          </a:p>
        </p:txBody>
      </p:sp>
      <p:sp>
        <p:nvSpPr>
          <p:cNvPr id="8" name="Text 6"/>
          <p:cNvSpPr/>
          <p:nvPr/>
        </p:nvSpPr>
        <p:spPr>
          <a:xfrm>
            <a:off x="502920" y="6473952"/>
            <a:ext cx="7772400" cy="164592"/>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Primary source: National Statistics Office; news trigger: VnExpress</a:t>
            </a:r>
            <a:endParaRPr lang="en-US" sz="680" dirty="0"/>
          </a:p>
        </p:txBody>
      </p:sp>
      <p:pic>
        <p:nvPicPr>
          <p:cNvPr id="9" name="Image 0" descr="C:\Users\gianthu.ho\Documents\strategize\public_policy_artifact\vietnam_enterprise_census_2026\sa_partners_logo.png">    </p:cNvPr>
          <p:cNvPicPr>
            <a:picLocks noChangeAspect="1"/>
          </p:cNvPicPr>
          <p:nvPr/>
        </p:nvPicPr>
        <p:blipFill>
          <a:blip r:embed="rId1"/>
          <a:stretch>
            <a:fillRect/>
          </a:stretch>
        </p:blipFill>
        <p:spPr>
          <a:xfrm>
            <a:off x="384048" y="5715000"/>
            <a:ext cx="20116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EXECUTIVE THESIS</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Enterprise growth is real, but formalization quality—not the headline count—will determine economic impact</a:t>
            </a:r>
            <a:endParaRPr lang="en-US" sz="1800" dirty="0"/>
          </a:p>
        </p:txBody>
      </p:sp>
      <p:sp>
        <p:nvSpPr>
          <p:cNvPr id="4" name="Shape 2"/>
          <p:cNvSpPr/>
          <p:nvPr/>
        </p:nvSpPr>
        <p:spPr>
          <a:xfrm>
            <a:off x="457200" y="1170432"/>
            <a:ext cx="11274552" cy="0"/>
          </a:xfrm>
          <a:prstGeom prst="line">
            <a:avLst/>
          </a:prstGeom>
          <a:noFill/>
          <a:ln w="12700">
            <a:solidFill>
              <a:srgbClr val="C6A447"/>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https://vnexpress.net/ca-nuoc-co-gan-860-000-doanh-nghiep-dang-hoat-dong-5097010.html; https://www.nso.gov.vn/bai-top/2026/06/ket-qua-so-bo-tong-dieu-tra-kinh-te-nam-2026/</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Text 5"/>
          <p:cNvSpPr/>
          <p:nvPr/>
        </p:nvSpPr>
        <p:spPr>
          <a:xfrm>
            <a:off x="502920" y="1380744"/>
            <a:ext cx="1554480" cy="228600"/>
          </a:xfrm>
          <a:prstGeom prst="rect">
            <a:avLst/>
          </a:prstGeom>
          <a:noFill/>
          <a:ln/>
        </p:spPr>
        <p:txBody>
          <a:bodyPr wrap="square" lIns="0" tIns="0" rIns="0" bIns="0" rtlCol="0" anchor="ctr"/>
          <a:lstStyle/>
          <a:p>
            <a:pPr indent="0" marL="0">
              <a:buNone/>
            </a:pPr>
            <a:r>
              <a:rPr lang="en-US" sz="850" b="1" dirty="0">
                <a:solidFill>
                  <a:srgbClr val="8C7A3A"/>
                </a:solidFill>
                <a:latin typeface="Roboto" pitchFamily="34" charset="0"/>
                <a:ea typeface="Roboto" pitchFamily="34" charset="-122"/>
                <a:cs typeface="Roboto" pitchFamily="34" charset="-120"/>
              </a:rPr>
              <a:t>BOTTOM LINE</a:t>
            </a:r>
            <a:endParaRPr lang="en-US" sz="850" dirty="0"/>
          </a:p>
        </p:txBody>
      </p:sp>
      <p:sp>
        <p:nvSpPr>
          <p:cNvPr id="9" name="Text 6"/>
          <p:cNvSpPr/>
          <p:nvPr/>
        </p:nvSpPr>
        <p:spPr>
          <a:xfrm>
            <a:off x="502920" y="1627632"/>
            <a:ext cx="10972800" cy="621792"/>
          </a:xfrm>
          <a:prstGeom prst="rect">
            <a:avLst/>
          </a:prstGeom>
          <a:noFill/>
          <a:ln/>
        </p:spPr>
        <p:txBody>
          <a:bodyPr wrap="square" lIns="0" tIns="0" rIns="0" bIns="0" rtlCol="0" anchor="t"/>
          <a:lstStyle/>
          <a:p>
            <a:pPr indent="0" marL="0">
              <a:buNone/>
            </a:pPr>
            <a:r>
              <a:rPr lang="en-US" sz="1500" b="1" dirty="0">
                <a:solidFill>
                  <a:srgbClr val="0B3D2A"/>
                </a:solidFill>
                <a:latin typeface="Roboto" pitchFamily="34" charset="0"/>
                <a:ea typeface="Roboto" pitchFamily="34" charset="-122"/>
                <a:cs typeface="Roboto" pitchFamily="34" charset="-120"/>
              </a:rPr>
              <a:t>Vietnam has broadened its enterprise base while capital, revenue and employment expanded faster than firm count. The next phase must convert a vast household-business base into durable, productive firms.</a:t>
            </a:r>
            <a:endParaRPr lang="en-US" sz="1500" dirty="0"/>
          </a:p>
        </p:txBody>
      </p:sp>
      <p:sp>
        <p:nvSpPr>
          <p:cNvPr id="10" name="Shape 7"/>
          <p:cNvSpPr/>
          <p:nvPr/>
        </p:nvSpPr>
        <p:spPr>
          <a:xfrm>
            <a:off x="502920" y="2487168"/>
            <a:ext cx="3493008" cy="2194560"/>
          </a:xfrm>
          <a:prstGeom prst="roundRect">
            <a:avLst>
              <a:gd name="adj" fmla="val 2500"/>
            </a:avLst>
          </a:prstGeom>
          <a:solidFill>
            <a:srgbClr val="FBFAF3"/>
          </a:solidFill>
          <a:ln w="12700">
            <a:solidFill>
              <a:srgbClr val="D8DED8"/>
            </a:solidFill>
            <a:prstDash val="solid"/>
          </a:ln>
        </p:spPr>
      </p:sp>
      <p:sp>
        <p:nvSpPr>
          <p:cNvPr id="11" name="Text 8"/>
          <p:cNvSpPr/>
          <p:nvPr/>
        </p:nvSpPr>
        <p:spPr>
          <a:xfrm>
            <a:off x="667512" y="2651760"/>
            <a:ext cx="502920" cy="320040"/>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01</a:t>
            </a:r>
            <a:endParaRPr lang="en-US" sz="1800" dirty="0"/>
          </a:p>
        </p:txBody>
      </p:sp>
      <p:sp>
        <p:nvSpPr>
          <p:cNvPr id="12" name="Text 9"/>
          <p:cNvSpPr/>
          <p:nvPr/>
        </p:nvSpPr>
        <p:spPr>
          <a:xfrm>
            <a:off x="1216152" y="2679192"/>
            <a:ext cx="2377440" cy="256032"/>
          </a:xfrm>
          <a:prstGeom prst="rect">
            <a:avLst/>
          </a:prstGeom>
          <a:noFill/>
          <a:ln/>
        </p:spPr>
        <p:txBody>
          <a:bodyPr wrap="square" lIns="0" tIns="0" rIns="0" bIns="0" rtlCol="0" anchor="ctr"/>
          <a:lstStyle/>
          <a:p>
            <a:pPr indent="0" marL="0">
              <a:buNone/>
            </a:pPr>
            <a:r>
              <a:rPr lang="en-US" sz="1000" b="1" dirty="0">
                <a:solidFill>
                  <a:srgbClr val="66746B"/>
                </a:solidFill>
                <a:latin typeface="Roboto" pitchFamily="34" charset="0"/>
                <a:ea typeface="Roboto" pitchFamily="34" charset="-122"/>
                <a:cs typeface="Roboto" pitchFamily="34" charset="-120"/>
              </a:rPr>
              <a:t>Breadth</a:t>
            </a:r>
            <a:endParaRPr lang="en-US" sz="1000" dirty="0"/>
          </a:p>
        </p:txBody>
      </p:sp>
      <p:sp>
        <p:nvSpPr>
          <p:cNvPr id="13" name="Text 10"/>
          <p:cNvSpPr/>
          <p:nvPr/>
        </p:nvSpPr>
        <p:spPr>
          <a:xfrm>
            <a:off x="667512" y="3090672"/>
            <a:ext cx="3063240" cy="438912"/>
          </a:xfrm>
          <a:prstGeom prst="rect">
            <a:avLst/>
          </a:prstGeom>
          <a:noFill/>
          <a:ln/>
        </p:spPr>
        <p:txBody>
          <a:bodyPr wrap="square" lIns="0" tIns="0" rIns="0" bIns="0" rtlCol="0" anchor="ctr"/>
          <a:lstStyle/>
          <a:p>
            <a:pPr indent="0" marL="0">
              <a:buNone/>
            </a:pPr>
            <a:r>
              <a:rPr lang="en-US" sz="2100" b="1" dirty="0">
                <a:solidFill>
                  <a:srgbClr val="0B3D2A"/>
                </a:solidFill>
                <a:latin typeface="Roboto" pitchFamily="34" charset="0"/>
                <a:ea typeface="Roboto" pitchFamily="34" charset="-122"/>
                <a:cs typeface="Roboto" pitchFamily="34" charset="-120"/>
              </a:rPr>
              <a:t>859k active firms</a:t>
            </a:r>
            <a:endParaRPr lang="en-US" sz="2100" dirty="0"/>
          </a:p>
        </p:txBody>
      </p:sp>
      <p:sp>
        <p:nvSpPr>
          <p:cNvPr id="14" name="Text 11"/>
          <p:cNvSpPr/>
          <p:nvPr/>
        </p:nvSpPr>
        <p:spPr>
          <a:xfrm>
            <a:off x="667512" y="3675888"/>
            <a:ext cx="3063240" cy="658368"/>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+25.5% vs 2020; 96.3% are non-state enterprises.</a:t>
            </a:r>
            <a:endParaRPr lang="en-US" sz="920" dirty="0"/>
          </a:p>
        </p:txBody>
      </p:sp>
      <p:sp>
        <p:nvSpPr>
          <p:cNvPr id="15" name="Shape 12"/>
          <p:cNvSpPr/>
          <p:nvPr/>
        </p:nvSpPr>
        <p:spPr>
          <a:xfrm>
            <a:off x="4270248" y="2487168"/>
            <a:ext cx="3493008" cy="2194560"/>
          </a:xfrm>
          <a:prstGeom prst="roundRect">
            <a:avLst>
              <a:gd name="adj" fmla="val 2500"/>
            </a:avLst>
          </a:prstGeom>
          <a:solidFill>
            <a:srgbClr val="DDE8DF"/>
          </a:solidFill>
          <a:ln w="12700">
            <a:solidFill>
              <a:srgbClr val="14543B"/>
            </a:solidFill>
            <a:prstDash val="solid"/>
          </a:ln>
        </p:spPr>
      </p:sp>
      <p:sp>
        <p:nvSpPr>
          <p:cNvPr id="16" name="Text 13"/>
          <p:cNvSpPr/>
          <p:nvPr/>
        </p:nvSpPr>
        <p:spPr>
          <a:xfrm>
            <a:off x="4434840" y="2651760"/>
            <a:ext cx="502920" cy="320040"/>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02</a:t>
            </a:r>
            <a:endParaRPr lang="en-US" sz="1800" dirty="0"/>
          </a:p>
        </p:txBody>
      </p:sp>
      <p:sp>
        <p:nvSpPr>
          <p:cNvPr id="17" name="Text 14"/>
          <p:cNvSpPr/>
          <p:nvPr/>
        </p:nvSpPr>
        <p:spPr>
          <a:xfrm>
            <a:off x="4983480" y="2679192"/>
            <a:ext cx="2377440" cy="256032"/>
          </a:xfrm>
          <a:prstGeom prst="rect">
            <a:avLst/>
          </a:prstGeom>
          <a:noFill/>
          <a:ln/>
        </p:spPr>
        <p:txBody>
          <a:bodyPr wrap="square" lIns="0" tIns="0" rIns="0" bIns="0" rtlCol="0" anchor="ctr"/>
          <a:lstStyle/>
          <a:p>
            <a:pPr indent="0" marL="0">
              <a:buNone/>
            </a:pPr>
            <a:r>
              <a:rPr lang="en-US" sz="1000" b="1" dirty="0">
                <a:solidFill>
                  <a:srgbClr val="66746B"/>
                </a:solidFill>
                <a:latin typeface="Roboto" pitchFamily="34" charset="0"/>
                <a:ea typeface="Roboto" pitchFamily="34" charset="-122"/>
                <a:cs typeface="Roboto" pitchFamily="34" charset="-120"/>
              </a:rPr>
              <a:t>Depth</a:t>
            </a:r>
            <a:endParaRPr lang="en-US" sz="1000" dirty="0"/>
          </a:p>
        </p:txBody>
      </p:sp>
      <p:sp>
        <p:nvSpPr>
          <p:cNvPr id="18" name="Text 15"/>
          <p:cNvSpPr/>
          <p:nvPr/>
        </p:nvSpPr>
        <p:spPr>
          <a:xfrm>
            <a:off x="4434840" y="3090672"/>
            <a:ext cx="3063240" cy="438912"/>
          </a:xfrm>
          <a:prstGeom prst="rect">
            <a:avLst/>
          </a:prstGeom>
          <a:noFill/>
          <a:ln/>
        </p:spPr>
        <p:txBody>
          <a:bodyPr wrap="square" lIns="0" tIns="0" rIns="0" bIns="0" rtlCol="0" anchor="ctr"/>
          <a:lstStyle/>
          <a:p>
            <a:pPr indent="0" marL="0">
              <a:buNone/>
            </a:pPr>
            <a:r>
              <a:rPr lang="en-US" sz="2100" b="1" dirty="0">
                <a:solidFill>
                  <a:srgbClr val="0B3D2A"/>
                </a:solidFill>
                <a:latin typeface="Roboto" pitchFamily="34" charset="0"/>
                <a:ea typeface="Roboto" pitchFamily="34" charset="-122"/>
                <a:cs typeface="Roboto" pitchFamily="34" charset="-120"/>
              </a:rPr>
              <a:t>Capital +69.9%</a:t>
            </a:r>
            <a:endParaRPr lang="en-US" sz="2100" dirty="0"/>
          </a:p>
        </p:txBody>
      </p:sp>
      <p:sp>
        <p:nvSpPr>
          <p:cNvPr id="19" name="Text 16"/>
          <p:cNvSpPr/>
          <p:nvPr/>
        </p:nvSpPr>
        <p:spPr>
          <a:xfrm>
            <a:off x="4434840" y="3675888"/>
            <a:ext cx="3063240" cy="658368"/>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Capital and revenue rose much faster than firm count, implying deeper resource intensity.</a:t>
            </a:r>
            <a:endParaRPr lang="en-US" sz="920" dirty="0"/>
          </a:p>
        </p:txBody>
      </p:sp>
      <p:sp>
        <p:nvSpPr>
          <p:cNvPr id="20" name="Shape 17"/>
          <p:cNvSpPr/>
          <p:nvPr/>
        </p:nvSpPr>
        <p:spPr>
          <a:xfrm>
            <a:off x="8037576" y="2487168"/>
            <a:ext cx="3493008" cy="2194560"/>
          </a:xfrm>
          <a:prstGeom prst="roundRect">
            <a:avLst>
              <a:gd name="adj" fmla="val 2500"/>
            </a:avLst>
          </a:prstGeom>
          <a:solidFill>
            <a:srgbClr val="FBFAF3"/>
          </a:solidFill>
          <a:ln w="12700">
            <a:solidFill>
              <a:srgbClr val="D8DED8"/>
            </a:solidFill>
            <a:prstDash val="solid"/>
          </a:ln>
        </p:spPr>
      </p:sp>
      <p:sp>
        <p:nvSpPr>
          <p:cNvPr id="21" name="Text 18"/>
          <p:cNvSpPr/>
          <p:nvPr/>
        </p:nvSpPr>
        <p:spPr>
          <a:xfrm>
            <a:off x="8202168" y="2651760"/>
            <a:ext cx="502920" cy="320040"/>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03</a:t>
            </a:r>
            <a:endParaRPr lang="en-US" sz="1800" dirty="0"/>
          </a:p>
        </p:txBody>
      </p:sp>
      <p:sp>
        <p:nvSpPr>
          <p:cNvPr id="22" name="Text 19"/>
          <p:cNvSpPr/>
          <p:nvPr/>
        </p:nvSpPr>
        <p:spPr>
          <a:xfrm>
            <a:off x="8750808" y="2679192"/>
            <a:ext cx="2377440" cy="256032"/>
          </a:xfrm>
          <a:prstGeom prst="rect">
            <a:avLst/>
          </a:prstGeom>
          <a:noFill/>
          <a:ln/>
        </p:spPr>
        <p:txBody>
          <a:bodyPr wrap="square" lIns="0" tIns="0" rIns="0" bIns="0" rtlCol="0" anchor="ctr"/>
          <a:lstStyle/>
          <a:p>
            <a:pPr indent="0" marL="0">
              <a:buNone/>
            </a:pPr>
            <a:r>
              <a:rPr lang="en-US" sz="1000" b="1" dirty="0">
                <a:solidFill>
                  <a:srgbClr val="66746B"/>
                </a:solidFill>
                <a:latin typeface="Roboto" pitchFamily="34" charset="0"/>
                <a:ea typeface="Roboto" pitchFamily="34" charset="-122"/>
                <a:cs typeface="Roboto" pitchFamily="34" charset="-120"/>
              </a:rPr>
              <a:t>Conversion</a:t>
            </a:r>
            <a:endParaRPr lang="en-US" sz="1000" dirty="0"/>
          </a:p>
        </p:txBody>
      </p:sp>
      <p:sp>
        <p:nvSpPr>
          <p:cNvPr id="23" name="Text 20"/>
          <p:cNvSpPr/>
          <p:nvPr/>
        </p:nvSpPr>
        <p:spPr>
          <a:xfrm>
            <a:off x="8202168" y="3090672"/>
            <a:ext cx="3063240" cy="438912"/>
          </a:xfrm>
          <a:prstGeom prst="rect">
            <a:avLst/>
          </a:prstGeom>
          <a:noFill/>
          <a:ln/>
        </p:spPr>
        <p:txBody>
          <a:bodyPr wrap="square" lIns="0" tIns="0" rIns="0" bIns="0" rtlCol="0" anchor="ctr"/>
          <a:lstStyle/>
          <a:p>
            <a:pPr indent="0" marL="0">
              <a:buNone/>
            </a:pPr>
            <a:r>
              <a:rPr lang="en-US" sz="2100" b="1" dirty="0">
                <a:solidFill>
                  <a:srgbClr val="0B3D2A"/>
                </a:solidFill>
                <a:latin typeface="Roboto" pitchFamily="34" charset="0"/>
                <a:ea typeface="Roboto" pitchFamily="34" charset="-122"/>
                <a:cs typeface="Roboto" pitchFamily="34" charset="-120"/>
              </a:rPr>
              <a:t>5.19m household units</a:t>
            </a:r>
            <a:endParaRPr lang="en-US" sz="2100" dirty="0"/>
          </a:p>
        </p:txBody>
      </p:sp>
      <p:sp>
        <p:nvSpPr>
          <p:cNvPr id="24" name="Text 21"/>
          <p:cNvSpPr/>
          <p:nvPr/>
        </p:nvSpPr>
        <p:spPr>
          <a:xfrm>
            <a:off x="8202168" y="3675888"/>
            <a:ext cx="3063240" cy="658368"/>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The largest formalization pool remains outside the enterprise boundary.</a:t>
            </a:r>
            <a:endParaRPr lang="en-US" sz="920" dirty="0"/>
          </a:p>
        </p:txBody>
      </p:sp>
      <p:sp>
        <p:nvSpPr>
          <p:cNvPr id="25" name="Shape 22"/>
          <p:cNvSpPr/>
          <p:nvPr/>
        </p:nvSpPr>
        <p:spPr>
          <a:xfrm>
            <a:off x="457200" y="5074920"/>
            <a:ext cx="11274552" cy="493776"/>
          </a:xfrm>
          <a:prstGeom prst="roundRect">
            <a:avLst>
              <a:gd name="adj" fmla="val 9259"/>
            </a:avLst>
          </a:prstGeom>
          <a:solidFill>
            <a:srgbClr val="F2EBD6"/>
          </a:solidFill>
          <a:ln w="12700">
            <a:solidFill>
              <a:srgbClr val="8C7A3A"/>
            </a:solidFill>
            <a:prstDash val="solid"/>
          </a:ln>
        </p:spPr>
      </p:sp>
      <p:sp>
        <p:nvSpPr>
          <p:cNvPr id="26" name="Text 23"/>
          <p:cNvSpPr/>
          <p:nvPr/>
        </p:nvSpPr>
        <p:spPr>
          <a:xfrm>
            <a:off x="621792" y="5148072"/>
            <a:ext cx="10927080" cy="320040"/>
          </a:xfrm>
          <a:prstGeom prst="rect">
            <a:avLst/>
          </a:prstGeom>
          <a:noFill/>
          <a:ln/>
        </p:spPr>
        <p:txBody>
          <a:bodyPr wrap="square" lIns="0" tIns="0" rIns="0" bIns="0" rtlCol="0" anchor="ctr"/>
          <a:lstStyle/>
          <a:p>
            <a:pPr indent="0" marL="0">
              <a:buNone/>
            </a:pPr>
            <a:r>
              <a:rPr lang="en-US" sz="940" i="1" dirty="0">
                <a:solidFill>
                  <a:srgbClr val="8C7A3A"/>
                </a:solidFill>
                <a:latin typeface="Roboto" pitchFamily="34" charset="0"/>
                <a:ea typeface="Roboto" pitchFamily="34" charset="-122"/>
                <a:cs typeface="Roboto" pitchFamily="34" charset="-120"/>
              </a:rPr>
              <a:t>Key uncertainty: the census is preliminary and ‘active with business results’ is narrower than registered or administratively active enterprises.</a:t>
            </a:r>
            <a:endParaRPr lang="en-US" sz="9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FRAMING</a:t>
            </a:r>
            <a:endParaRPr lang="en-US" sz="850" dirty="0"/>
          </a:p>
        </p:txBody>
      </p:sp>
      <p:sp>
        <p:nvSpPr>
          <p:cNvPr id="3" name="Text 1"/>
          <p:cNvSpPr/>
          <p:nvPr/>
        </p:nvSpPr>
        <p:spPr>
          <a:xfrm>
            <a:off x="457200" y="448056"/>
            <a:ext cx="11155680" cy="457200"/>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The headline measures productive activity, not every registered enterprise in the administrative universe</a:t>
            </a:r>
            <a:endParaRPr lang="en-US" sz="1800" dirty="0"/>
          </a:p>
        </p:txBody>
      </p:sp>
      <p:sp>
        <p:nvSpPr>
          <p:cNvPr id="4" name="Text 2"/>
          <p:cNvSpPr/>
          <p:nvPr/>
        </p:nvSpPr>
        <p:spPr>
          <a:xfrm>
            <a:off x="457200" y="932688"/>
            <a:ext cx="10972800" cy="219456"/>
          </a:xfrm>
          <a:prstGeom prst="rect">
            <a:avLst/>
          </a:prstGeom>
          <a:noFill/>
          <a:ln/>
        </p:spPr>
        <p:txBody>
          <a:bodyPr wrap="square" lIns="0" tIns="0" rIns="0" bIns="0" rtlCol="0" anchor="ctr"/>
          <a:lstStyle/>
          <a:p>
            <a:pPr indent="0" marL="0">
              <a:buNone/>
            </a:pPr>
            <a:r>
              <a:rPr lang="en-US" sz="1020" dirty="0">
                <a:solidFill>
                  <a:srgbClr val="66746B"/>
                </a:solidFill>
                <a:latin typeface="Roboto" pitchFamily="34" charset="0"/>
                <a:ea typeface="Roboto" pitchFamily="34" charset="-122"/>
                <a:cs typeface="Roboto" pitchFamily="34" charset="-120"/>
              </a:rPr>
              <a:t>Governing question: can Vietnam turn a larger business base into more formal, resilient and productive enterprises?</a:t>
            </a:r>
            <a:endParaRPr lang="en-US" sz="1020" dirty="0"/>
          </a:p>
        </p:txBody>
      </p:sp>
      <p:sp>
        <p:nvSpPr>
          <p:cNvPr id="5" name="Shape 3"/>
          <p:cNvSpPr/>
          <p:nvPr/>
        </p:nvSpPr>
        <p:spPr>
          <a:xfrm>
            <a:off x="457200" y="1170432"/>
            <a:ext cx="11274552" cy="0"/>
          </a:xfrm>
          <a:prstGeom prst="line">
            <a:avLst/>
          </a:prstGeom>
          <a:noFill/>
          <a:ln w="12700">
            <a:solidFill>
              <a:srgbClr val="D8DED8"/>
            </a:solidFill>
            <a:prstDash val="solid"/>
          </a:ln>
        </p:spPr>
      </p:sp>
      <p:sp>
        <p:nvSpPr>
          <p:cNvPr id="6" name="Text 4"/>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https://vnexpress.net/ca-nuoc-co-gan-860-000-doanh-nghiep-dang-hoat-dong-5097010.html; NSO preliminary census, pp. 25, 31, 37</a:t>
            </a:r>
            <a:endParaRPr lang="en-US" sz="680" dirty="0"/>
          </a:p>
        </p:txBody>
      </p:sp>
      <p:sp>
        <p:nvSpPr>
          <p:cNvPr id="7" name="Shape 5"/>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8"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9" name="Shape 6"/>
          <p:cNvSpPr/>
          <p:nvPr/>
        </p:nvSpPr>
        <p:spPr>
          <a:xfrm>
            <a:off x="685800" y="1417320"/>
            <a:ext cx="10698480" cy="749808"/>
          </a:xfrm>
          <a:prstGeom prst="roundRect">
            <a:avLst>
              <a:gd name="adj" fmla="val 6098"/>
            </a:avLst>
          </a:prstGeom>
          <a:solidFill>
            <a:srgbClr val="F2F4F2"/>
          </a:solidFill>
          <a:ln w="12700">
            <a:solidFill>
              <a:srgbClr val="D8DED8"/>
            </a:solidFill>
            <a:prstDash val="solid"/>
          </a:ln>
        </p:spPr>
      </p:sp>
      <p:sp>
        <p:nvSpPr>
          <p:cNvPr id="10" name="Text 7"/>
          <p:cNvSpPr/>
          <p:nvPr/>
        </p:nvSpPr>
        <p:spPr>
          <a:xfrm>
            <a:off x="868680" y="1527048"/>
            <a:ext cx="1417320" cy="347472"/>
          </a:xfrm>
          <a:prstGeom prst="rect">
            <a:avLst/>
          </a:prstGeom>
          <a:noFill/>
          <a:ln/>
        </p:spPr>
        <p:txBody>
          <a:bodyPr wrap="square" lIns="0" tIns="0" rIns="0" bIns="0" rtlCol="0" anchor="ctr"/>
          <a:lstStyle/>
          <a:p>
            <a:pPr indent="0" marL="0">
              <a:buNone/>
            </a:pPr>
            <a:r>
              <a:rPr lang="en-US" sz="1700" b="1" dirty="0">
                <a:solidFill>
                  <a:srgbClr val="0B3D2A"/>
                </a:solidFill>
                <a:latin typeface="Roboto" pitchFamily="34" charset="0"/>
                <a:ea typeface="Roboto" pitchFamily="34" charset="-122"/>
                <a:cs typeface="Roboto" pitchFamily="34" charset="-120"/>
              </a:rPr>
              <a:t>6.3m</a:t>
            </a:r>
            <a:endParaRPr lang="en-US" sz="1700" dirty="0"/>
          </a:p>
        </p:txBody>
      </p:sp>
      <p:sp>
        <p:nvSpPr>
          <p:cNvPr id="11" name="Text 8"/>
          <p:cNvSpPr/>
          <p:nvPr/>
        </p:nvSpPr>
        <p:spPr>
          <a:xfrm>
            <a:off x="2331720" y="1508760"/>
            <a:ext cx="6949440" cy="292608"/>
          </a:xfrm>
          <a:prstGeom prst="rect">
            <a:avLst/>
          </a:prstGeom>
          <a:noFill/>
          <a:ln/>
        </p:spPr>
        <p:txBody>
          <a:bodyPr wrap="square" lIns="0" tIns="0" rIns="0" bIns="0" rtlCol="0" anchor="ctr"/>
          <a:lstStyle/>
          <a:p>
            <a:pPr indent="0" marL="0">
              <a:buNone/>
            </a:pPr>
            <a:r>
              <a:rPr lang="en-US" sz="1050" b="1" dirty="0">
                <a:solidFill>
                  <a:srgbClr val="17211B"/>
                </a:solidFill>
                <a:latin typeface="Roboto" pitchFamily="34" charset="0"/>
                <a:ea typeface="Roboto" pitchFamily="34" charset="-122"/>
                <a:cs typeface="Roboto" pitchFamily="34" charset="-120"/>
              </a:rPr>
              <a:t>economic establishments</a:t>
            </a:r>
            <a:endParaRPr lang="en-US" sz="1050" dirty="0"/>
          </a:p>
        </p:txBody>
      </p:sp>
      <p:sp>
        <p:nvSpPr>
          <p:cNvPr id="12" name="Text 9"/>
          <p:cNvSpPr/>
          <p:nvPr/>
        </p:nvSpPr>
        <p:spPr>
          <a:xfrm>
            <a:off x="2331720" y="1810512"/>
            <a:ext cx="6949440" cy="201168"/>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All surveyed operating units</a:t>
            </a:r>
            <a:endParaRPr lang="en-US" sz="800" dirty="0"/>
          </a:p>
        </p:txBody>
      </p:sp>
      <p:sp>
        <p:nvSpPr>
          <p:cNvPr id="13" name="Shape 10"/>
          <p:cNvSpPr/>
          <p:nvPr/>
        </p:nvSpPr>
        <p:spPr>
          <a:xfrm>
            <a:off x="9811512" y="1645920"/>
            <a:ext cx="1371600" cy="274320"/>
          </a:xfrm>
          <a:prstGeom prst="roundRect">
            <a:avLst>
              <a:gd name="adj" fmla="val 46667"/>
            </a:avLst>
          </a:prstGeom>
          <a:solidFill>
            <a:srgbClr val="FFFFFF"/>
          </a:solidFill>
          <a:ln w="12700">
            <a:solidFill>
              <a:srgbClr val="FFFFFF"/>
            </a:solidFill>
            <a:prstDash val="solid"/>
          </a:ln>
        </p:spPr>
      </p:sp>
      <p:sp>
        <p:nvSpPr>
          <p:cNvPr id="14" name="Text 11"/>
          <p:cNvSpPr/>
          <p:nvPr/>
        </p:nvSpPr>
        <p:spPr>
          <a:xfrm>
            <a:off x="9866376" y="1664208"/>
            <a:ext cx="126187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different legal forms</a:t>
            </a:r>
            <a:endParaRPr lang="en-US" sz="750" dirty="0"/>
          </a:p>
        </p:txBody>
      </p:sp>
      <p:sp>
        <p:nvSpPr>
          <p:cNvPr id="15" name="Shape 12"/>
          <p:cNvSpPr/>
          <p:nvPr/>
        </p:nvSpPr>
        <p:spPr>
          <a:xfrm>
            <a:off x="1600200" y="2404872"/>
            <a:ext cx="8869680" cy="749808"/>
          </a:xfrm>
          <a:prstGeom prst="roundRect">
            <a:avLst>
              <a:gd name="adj" fmla="val 6098"/>
            </a:avLst>
          </a:prstGeom>
          <a:solidFill>
            <a:srgbClr val="F2EBD6"/>
          </a:solidFill>
          <a:ln w="12700">
            <a:solidFill>
              <a:srgbClr val="D8DED8"/>
            </a:solidFill>
            <a:prstDash val="solid"/>
          </a:ln>
        </p:spPr>
      </p:sp>
      <p:sp>
        <p:nvSpPr>
          <p:cNvPr id="16" name="Text 13"/>
          <p:cNvSpPr/>
          <p:nvPr/>
        </p:nvSpPr>
        <p:spPr>
          <a:xfrm>
            <a:off x="1783080" y="2514600"/>
            <a:ext cx="1417320" cy="347472"/>
          </a:xfrm>
          <a:prstGeom prst="rect">
            <a:avLst/>
          </a:prstGeom>
          <a:noFill/>
          <a:ln/>
        </p:spPr>
        <p:txBody>
          <a:bodyPr wrap="square" lIns="0" tIns="0" rIns="0" bIns="0" rtlCol="0" anchor="ctr"/>
          <a:lstStyle/>
          <a:p>
            <a:pPr indent="0" marL="0">
              <a:buNone/>
            </a:pPr>
            <a:r>
              <a:rPr lang="en-US" sz="1700" b="1" dirty="0">
                <a:solidFill>
                  <a:srgbClr val="0B3D2A"/>
                </a:solidFill>
                <a:latin typeface="Roboto" pitchFamily="34" charset="0"/>
                <a:ea typeface="Roboto" pitchFamily="34" charset="-122"/>
                <a:cs typeface="Roboto" pitchFamily="34" charset="-120"/>
              </a:rPr>
              <a:t>5.19m</a:t>
            </a:r>
            <a:endParaRPr lang="en-US" sz="1700" dirty="0"/>
          </a:p>
        </p:txBody>
      </p:sp>
      <p:sp>
        <p:nvSpPr>
          <p:cNvPr id="17" name="Text 14"/>
          <p:cNvSpPr/>
          <p:nvPr/>
        </p:nvSpPr>
        <p:spPr>
          <a:xfrm>
            <a:off x="3246120" y="2496312"/>
            <a:ext cx="5120640" cy="292608"/>
          </a:xfrm>
          <a:prstGeom prst="rect">
            <a:avLst/>
          </a:prstGeom>
          <a:noFill/>
          <a:ln/>
        </p:spPr>
        <p:txBody>
          <a:bodyPr wrap="square" lIns="0" tIns="0" rIns="0" bIns="0" rtlCol="0" anchor="ctr"/>
          <a:lstStyle/>
          <a:p>
            <a:pPr indent="0" marL="0">
              <a:buNone/>
            </a:pPr>
            <a:r>
              <a:rPr lang="en-US" sz="1050" b="1" dirty="0">
                <a:solidFill>
                  <a:srgbClr val="17211B"/>
                </a:solidFill>
                <a:latin typeface="Roboto" pitchFamily="34" charset="0"/>
                <a:ea typeface="Roboto" pitchFamily="34" charset="-122"/>
                <a:cs typeface="Roboto" pitchFamily="34" charset="-120"/>
              </a:rPr>
              <a:t>individual establishments</a:t>
            </a:r>
            <a:endParaRPr lang="en-US" sz="1050" dirty="0"/>
          </a:p>
        </p:txBody>
      </p:sp>
      <p:sp>
        <p:nvSpPr>
          <p:cNvPr id="18" name="Text 15"/>
          <p:cNvSpPr/>
          <p:nvPr/>
        </p:nvSpPr>
        <p:spPr>
          <a:xfrm>
            <a:off x="3246120" y="2798064"/>
            <a:ext cx="5120640" cy="201168"/>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Household / individual production and business</a:t>
            </a:r>
            <a:endParaRPr lang="en-US" sz="800" dirty="0"/>
          </a:p>
        </p:txBody>
      </p:sp>
      <p:sp>
        <p:nvSpPr>
          <p:cNvPr id="19" name="Shape 16"/>
          <p:cNvSpPr/>
          <p:nvPr/>
        </p:nvSpPr>
        <p:spPr>
          <a:xfrm>
            <a:off x="8897112" y="2633472"/>
            <a:ext cx="1371600" cy="274320"/>
          </a:xfrm>
          <a:prstGeom prst="roundRect">
            <a:avLst>
              <a:gd name="adj" fmla="val 46667"/>
            </a:avLst>
          </a:prstGeom>
          <a:solidFill>
            <a:srgbClr val="FFFFFF"/>
          </a:solidFill>
          <a:ln w="12700">
            <a:solidFill>
              <a:srgbClr val="FFFFFF"/>
            </a:solidFill>
            <a:prstDash val="solid"/>
          </a:ln>
        </p:spPr>
      </p:sp>
      <p:sp>
        <p:nvSpPr>
          <p:cNvPr id="20" name="Text 17"/>
          <p:cNvSpPr/>
          <p:nvPr/>
        </p:nvSpPr>
        <p:spPr>
          <a:xfrm>
            <a:off x="8951976" y="2651760"/>
            <a:ext cx="126187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enterprise boundary</a:t>
            </a:r>
            <a:endParaRPr lang="en-US" sz="750" dirty="0"/>
          </a:p>
        </p:txBody>
      </p:sp>
      <p:sp>
        <p:nvSpPr>
          <p:cNvPr id="21" name="Shape 18"/>
          <p:cNvSpPr/>
          <p:nvPr/>
        </p:nvSpPr>
        <p:spPr>
          <a:xfrm>
            <a:off x="2743200" y="3392424"/>
            <a:ext cx="6583680" cy="749808"/>
          </a:xfrm>
          <a:prstGeom prst="roundRect">
            <a:avLst>
              <a:gd name="adj" fmla="val 6098"/>
            </a:avLst>
          </a:prstGeom>
          <a:solidFill>
            <a:srgbClr val="DDE8DF"/>
          </a:solidFill>
          <a:ln w="12700">
            <a:solidFill>
              <a:srgbClr val="D8DED8"/>
            </a:solidFill>
            <a:prstDash val="solid"/>
          </a:ln>
        </p:spPr>
      </p:sp>
      <p:sp>
        <p:nvSpPr>
          <p:cNvPr id="22" name="Text 19"/>
          <p:cNvSpPr/>
          <p:nvPr/>
        </p:nvSpPr>
        <p:spPr>
          <a:xfrm>
            <a:off x="2926080" y="3502152"/>
            <a:ext cx="1417320" cy="347472"/>
          </a:xfrm>
          <a:prstGeom prst="rect">
            <a:avLst/>
          </a:prstGeom>
          <a:noFill/>
          <a:ln/>
        </p:spPr>
        <p:txBody>
          <a:bodyPr wrap="square" lIns="0" tIns="0" rIns="0" bIns="0" rtlCol="0" anchor="ctr"/>
          <a:lstStyle/>
          <a:p>
            <a:pPr indent="0" marL="0">
              <a:buNone/>
            </a:pPr>
            <a:r>
              <a:rPr lang="en-US" sz="1700" b="1" dirty="0">
                <a:solidFill>
                  <a:srgbClr val="0B3D2A"/>
                </a:solidFill>
                <a:latin typeface="Roboto" pitchFamily="34" charset="0"/>
                <a:ea typeface="Roboto" pitchFamily="34" charset="-122"/>
                <a:cs typeface="Roboto" pitchFamily="34" charset="-120"/>
              </a:rPr>
              <a:t>1.22m</a:t>
            </a:r>
            <a:endParaRPr lang="en-US" sz="1700" dirty="0"/>
          </a:p>
        </p:txBody>
      </p:sp>
      <p:sp>
        <p:nvSpPr>
          <p:cNvPr id="23" name="Text 20"/>
          <p:cNvSpPr/>
          <p:nvPr/>
        </p:nvSpPr>
        <p:spPr>
          <a:xfrm>
            <a:off x="4389120" y="3483864"/>
            <a:ext cx="2834640" cy="292608"/>
          </a:xfrm>
          <a:prstGeom prst="rect">
            <a:avLst/>
          </a:prstGeom>
          <a:noFill/>
          <a:ln/>
        </p:spPr>
        <p:txBody>
          <a:bodyPr wrap="square" lIns="0" tIns="0" rIns="0" bIns="0" rtlCol="0" anchor="ctr"/>
          <a:lstStyle/>
          <a:p>
            <a:pPr indent="0" marL="0">
              <a:buNone/>
            </a:pPr>
            <a:r>
              <a:rPr lang="en-US" sz="1050" b="1" dirty="0">
                <a:solidFill>
                  <a:srgbClr val="17211B"/>
                </a:solidFill>
                <a:latin typeface="Roboto" pitchFamily="34" charset="0"/>
                <a:ea typeface="Roboto" pitchFamily="34" charset="-122"/>
                <a:cs typeface="Roboto" pitchFamily="34" charset="-120"/>
              </a:rPr>
              <a:t>enterprises surveyed</a:t>
            </a:r>
            <a:endParaRPr lang="en-US" sz="1050" dirty="0"/>
          </a:p>
        </p:txBody>
      </p:sp>
      <p:sp>
        <p:nvSpPr>
          <p:cNvPr id="24" name="Text 21"/>
          <p:cNvSpPr/>
          <p:nvPr/>
        </p:nvSpPr>
        <p:spPr>
          <a:xfrm>
            <a:off x="4389120" y="3785616"/>
            <a:ext cx="2834640" cy="201168"/>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Administrative survey frame</a:t>
            </a:r>
            <a:endParaRPr lang="en-US" sz="800" dirty="0"/>
          </a:p>
        </p:txBody>
      </p:sp>
      <p:sp>
        <p:nvSpPr>
          <p:cNvPr id="25" name="Shape 22"/>
          <p:cNvSpPr/>
          <p:nvPr/>
        </p:nvSpPr>
        <p:spPr>
          <a:xfrm>
            <a:off x="7754112" y="3621024"/>
            <a:ext cx="1371600" cy="274320"/>
          </a:xfrm>
          <a:prstGeom prst="roundRect">
            <a:avLst>
              <a:gd name="adj" fmla="val 46667"/>
            </a:avLst>
          </a:prstGeom>
          <a:solidFill>
            <a:srgbClr val="FFFFFF"/>
          </a:solidFill>
          <a:ln w="12700">
            <a:solidFill>
              <a:srgbClr val="FFFFFF"/>
            </a:solidFill>
            <a:prstDash val="solid"/>
          </a:ln>
        </p:spPr>
      </p:sp>
      <p:sp>
        <p:nvSpPr>
          <p:cNvPr id="26" name="Text 23"/>
          <p:cNvSpPr/>
          <p:nvPr/>
        </p:nvSpPr>
        <p:spPr>
          <a:xfrm>
            <a:off x="7808976" y="3639312"/>
            <a:ext cx="126187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activity test</a:t>
            </a:r>
            <a:endParaRPr lang="en-US" sz="750" dirty="0"/>
          </a:p>
        </p:txBody>
      </p:sp>
      <p:sp>
        <p:nvSpPr>
          <p:cNvPr id="27" name="Shape 24"/>
          <p:cNvSpPr/>
          <p:nvPr/>
        </p:nvSpPr>
        <p:spPr>
          <a:xfrm>
            <a:off x="3703320" y="4379976"/>
            <a:ext cx="4663440" cy="749808"/>
          </a:xfrm>
          <a:prstGeom prst="roundRect">
            <a:avLst>
              <a:gd name="adj" fmla="val 6098"/>
            </a:avLst>
          </a:prstGeom>
          <a:solidFill>
            <a:srgbClr val="0B3D2A"/>
          </a:solidFill>
          <a:ln w="12700">
            <a:solidFill>
              <a:srgbClr val="0B3D2A"/>
            </a:solidFill>
            <a:prstDash val="solid"/>
          </a:ln>
        </p:spPr>
      </p:sp>
      <p:sp>
        <p:nvSpPr>
          <p:cNvPr id="28" name="Text 25"/>
          <p:cNvSpPr/>
          <p:nvPr/>
        </p:nvSpPr>
        <p:spPr>
          <a:xfrm>
            <a:off x="3886200" y="4489704"/>
            <a:ext cx="1417320" cy="347472"/>
          </a:xfrm>
          <a:prstGeom prst="rect">
            <a:avLst/>
          </a:prstGeom>
          <a:noFill/>
          <a:ln/>
        </p:spPr>
        <p:txBody>
          <a:bodyPr wrap="square" lIns="0" tIns="0" rIns="0" bIns="0" rtlCol="0" anchor="ctr"/>
          <a:lstStyle/>
          <a:p>
            <a:pPr indent="0" marL="0">
              <a:buNone/>
            </a:pPr>
            <a:r>
              <a:rPr lang="en-US" sz="2000" b="1" dirty="0">
                <a:solidFill>
                  <a:srgbClr val="F6F1DF"/>
                </a:solidFill>
                <a:latin typeface="Roboto" pitchFamily="34" charset="0"/>
                <a:ea typeface="Roboto" pitchFamily="34" charset="-122"/>
                <a:cs typeface="Roboto" pitchFamily="34" charset="-120"/>
              </a:rPr>
              <a:t>859,048</a:t>
            </a:r>
            <a:endParaRPr lang="en-US" sz="2000" dirty="0"/>
          </a:p>
        </p:txBody>
      </p:sp>
      <p:sp>
        <p:nvSpPr>
          <p:cNvPr id="29" name="Text 26"/>
          <p:cNvSpPr/>
          <p:nvPr/>
        </p:nvSpPr>
        <p:spPr>
          <a:xfrm>
            <a:off x="5349240" y="4471416"/>
            <a:ext cx="2194560" cy="292608"/>
          </a:xfrm>
          <a:prstGeom prst="rect">
            <a:avLst/>
          </a:prstGeom>
          <a:noFill/>
          <a:ln/>
        </p:spPr>
        <p:txBody>
          <a:bodyPr wrap="square" lIns="0" tIns="0" rIns="0" bIns="0" rtlCol="0" anchor="ctr"/>
          <a:lstStyle/>
          <a:p>
            <a:pPr indent="0" marL="0">
              <a:buNone/>
            </a:pPr>
            <a:r>
              <a:rPr lang="en-US" sz="1050" b="1" dirty="0">
                <a:solidFill>
                  <a:srgbClr val="F6F1DF"/>
                </a:solidFill>
                <a:latin typeface="Roboto" pitchFamily="34" charset="0"/>
                <a:ea typeface="Roboto" pitchFamily="34" charset="-122"/>
                <a:cs typeface="Roboto" pitchFamily="34" charset="-120"/>
              </a:rPr>
              <a:t>active with business results</a:t>
            </a:r>
            <a:endParaRPr lang="en-US" sz="1050" dirty="0"/>
          </a:p>
        </p:txBody>
      </p:sp>
      <p:sp>
        <p:nvSpPr>
          <p:cNvPr id="30" name="Text 27"/>
          <p:cNvSpPr/>
          <p:nvPr/>
        </p:nvSpPr>
        <p:spPr>
          <a:xfrm>
            <a:off x="5349240" y="4773168"/>
            <a:ext cx="2194560" cy="201168"/>
          </a:xfrm>
          <a:prstGeom prst="rect">
            <a:avLst/>
          </a:prstGeom>
          <a:noFill/>
          <a:ln/>
        </p:spPr>
        <p:txBody>
          <a:bodyPr wrap="square" lIns="0" tIns="0" rIns="0" bIns="0" rtlCol="0" anchor="ctr"/>
          <a:lstStyle/>
          <a:p>
            <a:pPr indent="0" marL="0">
              <a:buNone/>
            </a:pPr>
            <a:r>
              <a:rPr lang="en-US" sz="800" dirty="0">
                <a:solidFill>
                  <a:srgbClr val="DDE8DF"/>
                </a:solidFill>
                <a:latin typeface="Roboto" pitchFamily="34" charset="0"/>
                <a:ea typeface="Roboto" pitchFamily="34" charset="-122"/>
                <a:cs typeface="Roboto" pitchFamily="34" charset="-120"/>
              </a:rPr>
              <a:t>Revenue or production cost during 2025</a:t>
            </a:r>
            <a:endParaRPr lang="en-US" sz="800" dirty="0"/>
          </a:p>
        </p:txBody>
      </p:sp>
      <p:sp>
        <p:nvSpPr>
          <p:cNvPr id="31" name="Shape 28"/>
          <p:cNvSpPr/>
          <p:nvPr/>
        </p:nvSpPr>
        <p:spPr>
          <a:xfrm>
            <a:off x="457200" y="5650992"/>
            <a:ext cx="11274552" cy="493776"/>
          </a:xfrm>
          <a:prstGeom prst="roundRect">
            <a:avLst>
              <a:gd name="adj" fmla="val 9259"/>
            </a:avLst>
          </a:prstGeom>
          <a:solidFill>
            <a:srgbClr val="DDE8DF"/>
          </a:solidFill>
          <a:ln w="12700">
            <a:solidFill>
              <a:srgbClr val="0B3D2A"/>
            </a:solidFill>
            <a:prstDash val="solid"/>
          </a:ln>
        </p:spPr>
      </p:sp>
      <p:sp>
        <p:nvSpPr>
          <p:cNvPr id="32" name="Text 29"/>
          <p:cNvSpPr/>
          <p:nvPr/>
        </p:nvSpPr>
        <p:spPr>
          <a:xfrm>
            <a:off x="621792" y="5724144"/>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Interpretation: 859k is the economically active core. It should not be compared directly with a registered-enterprise stock without aligning definitions.</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GROWTH TRAJECTORY</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Firm count rose steadily, while capital and revenue deepened three times faster over 2020–25</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pp. 37, 39, 41, 43; calculations by Sa.Partners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graphicFrame>
        <p:nvGraphicFramePr>
          <p:cNvPr id="8" name="Chart 0" descr=""/>
          <p:cNvGraphicFramePr/>
          <p:nvPr/>
        </p:nvGraphicFramePr>
        <p:xfrm>
          <a:off x="530352" y="1353312"/>
          <a:ext cx="7498080" cy="406908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8284464" y="1463040"/>
            <a:ext cx="3337560" cy="1097280"/>
          </a:xfrm>
          <a:prstGeom prst="roundRect">
            <a:avLst>
              <a:gd name="adj" fmla="val 5000"/>
            </a:avLst>
          </a:prstGeom>
          <a:solidFill>
            <a:srgbClr val="FBFAF3"/>
          </a:solidFill>
          <a:ln w="12700">
            <a:solidFill>
              <a:srgbClr val="D8DED8"/>
            </a:solidFill>
            <a:prstDash val="solid"/>
          </a:ln>
        </p:spPr>
      </p:sp>
      <p:sp>
        <p:nvSpPr>
          <p:cNvPr id="10" name="Text 6"/>
          <p:cNvSpPr/>
          <p:nvPr/>
        </p:nvSpPr>
        <p:spPr>
          <a:xfrm>
            <a:off x="8449056" y="1581912"/>
            <a:ext cx="3008376" cy="393192"/>
          </a:xfrm>
          <a:prstGeom prst="rect">
            <a:avLst/>
          </a:prstGeom>
          <a:noFill/>
          <a:ln/>
        </p:spPr>
        <p:txBody>
          <a:bodyPr wrap="square" lIns="0" tIns="0" rIns="0" bIns="0" rtlCol="0" anchor="ctr"/>
          <a:lstStyle/>
          <a:p>
            <a:pPr indent="0" marL="0">
              <a:buNone/>
            </a:pPr>
            <a:r>
              <a:rPr lang="en-US" sz="2500" b="1" dirty="0">
                <a:solidFill>
                  <a:srgbClr val="0B3D2A"/>
                </a:solidFill>
                <a:latin typeface="Roboto" pitchFamily="34" charset="0"/>
                <a:ea typeface="Roboto" pitchFamily="34" charset="-122"/>
                <a:cs typeface="Roboto" pitchFamily="34" charset="-120"/>
              </a:rPr>
              <a:t>+25.5%</a:t>
            </a:r>
            <a:endParaRPr lang="en-US" sz="2500" dirty="0"/>
          </a:p>
        </p:txBody>
      </p:sp>
      <p:sp>
        <p:nvSpPr>
          <p:cNvPr id="11" name="Text 7"/>
          <p:cNvSpPr/>
          <p:nvPr/>
        </p:nvSpPr>
        <p:spPr>
          <a:xfrm>
            <a:off x="8449056" y="1984248"/>
            <a:ext cx="3008376"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Active enterprises</a:t>
            </a:r>
            <a:endParaRPr lang="en-US" sz="1000" dirty="0"/>
          </a:p>
        </p:txBody>
      </p:sp>
      <p:sp>
        <p:nvSpPr>
          <p:cNvPr id="12" name="Text 8"/>
          <p:cNvSpPr/>
          <p:nvPr/>
        </p:nvSpPr>
        <p:spPr>
          <a:xfrm>
            <a:off x="8449056" y="2258568"/>
            <a:ext cx="3008376"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2020–25 cumulative</a:t>
            </a:r>
            <a:endParaRPr lang="en-US" sz="820" dirty="0"/>
          </a:p>
        </p:txBody>
      </p:sp>
      <p:sp>
        <p:nvSpPr>
          <p:cNvPr id="13" name="Shape 9"/>
          <p:cNvSpPr/>
          <p:nvPr/>
        </p:nvSpPr>
        <p:spPr>
          <a:xfrm>
            <a:off x="8284464" y="2743200"/>
            <a:ext cx="3337560" cy="1097280"/>
          </a:xfrm>
          <a:prstGeom prst="roundRect">
            <a:avLst>
              <a:gd name="adj" fmla="val 5000"/>
            </a:avLst>
          </a:prstGeom>
          <a:solidFill>
            <a:srgbClr val="DDE8DF"/>
          </a:solidFill>
          <a:ln w="12700">
            <a:solidFill>
              <a:srgbClr val="D8DED8"/>
            </a:solidFill>
            <a:prstDash val="solid"/>
          </a:ln>
        </p:spPr>
      </p:sp>
      <p:sp>
        <p:nvSpPr>
          <p:cNvPr id="14" name="Text 10"/>
          <p:cNvSpPr/>
          <p:nvPr/>
        </p:nvSpPr>
        <p:spPr>
          <a:xfrm>
            <a:off x="8449056" y="2862072"/>
            <a:ext cx="3008376" cy="393192"/>
          </a:xfrm>
          <a:prstGeom prst="rect">
            <a:avLst/>
          </a:prstGeom>
          <a:noFill/>
          <a:ln/>
        </p:spPr>
        <p:txBody>
          <a:bodyPr wrap="square" lIns="0" tIns="0" rIns="0" bIns="0" rtlCol="0" anchor="ctr"/>
          <a:lstStyle/>
          <a:p>
            <a:pPr indent="0" marL="0">
              <a:buNone/>
            </a:pPr>
            <a:r>
              <a:rPr lang="en-US" sz="2500" b="1" dirty="0">
                <a:solidFill>
                  <a:srgbClr val="0B3D2A"/>
                </a:solidFill>
                <a:latin typeface="Roboto" pitchFamily="34" charset="0"/>
                <a:ea typeface="Roboto" pitchFamily="34" charset="-122"/>
                <a:cs typeface="Roboto" pitchFamily="34" charset="-120"/>
              </a:rPr>
              <a:t>+69.9%</a:t>
            </a:r>
            <a:endParaRPr lang="en-US" sz="2500" dirty="0"/>
          </a:p>
        </p:txBody>
      </p:sp>
      <p:sp>
        <p:nvSpPr>
          <p:cNvPr id="15" name="Text 11"/>
          <p:cNvSpPr/>
          <p:nvPr/>
        </p:nvSpPr>
        <p:spPr>
          <a:xfrm>
            <a:off x="8449056" y="3264408"/>
            <a:ext cx="3008376"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Capital stock</a:t>
            </a:r>
            <a:endParaRPr lang="en-US" sz="1000" dirty="0"/>
          </a:p>
        </p:txBody>
      </p:sp>
      <p:sp>
        <p:nvSpPr>
          <p:cNvPr id="16" name="Text 12"/>
          <p:cNvSpPr/>
          <p:nvPr/>
        </p:nvSpPr>
        <p:spPr>
          <a:xfrm>
            <a:off x="8449056" y="3538728"/>
            <a:ext cx="3008376"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2.7× firm-count growth</a:t>
            </a:r>
            <a:endParaRPr lang="en-US" sz="820" dirty="0"/>
          </a:p>
        </p:txBody>
      </p:sp>
      <p:sp>
        <p:nvSpPr>
          <p:cNvPr id="17" name="Shape 13"/>
          <p:cNvSpPr/>
          <p:nvPr/>
        </p:nvSpPr>
        <p:spPr>
          <a:xfrm>
            <a:off x="8284464" y="4023360"/>
            <a:ext cx="3337560" cy="1097280"/>
          </a:xfrm>
          <a:prstGeom prst="roundRect">
            <a:avLst>
              <a:gd name="adj" fmla="val 5000"/>
            </a:avLst>
          </a:prstGeom>
          <a:solidFill>
            <a:srgbClr val="FBFAF3"/>
          </a:solidFill>
          <a:ln w="12700">
            <a:solidFill>
              <a:srgbClr val="D8DED8"/>
            </a:solidFill>
            <a:prstDash val="solid"/>
          </a:ln>
        </p:spPr>
      </p:sp>
      <p:sp>
        <p:nvSpPr>
          <p:cNvPr id="18" name="Text 14"/>
          <p:cNvSpPr/>
          <p:nvPr/>
        </p:nvSpPr>
        <p:spPr>
          <a:xfrm>
            <a:off x="8449056" y="4142232"/>
            <a:ext cx="3008376" cy="393192"/>
          </a:xfrm>
          <a:prstGeom prst="rect">
            <a:avLst/>
          </a:prstGeom>
          <a:noFill/>
          <a:ln/>
        </p:spPr>
        <p:txBody>
          <a:bodyPr wrap="square" lIns="0" tIns="0" rIns="0" bIns="0" rtlCol="0" anchor="ctr"/>
          <a:lstStyle/>
          <a:p>
            <a:pPr indent="0" marL="0">
              <a:buNone/>
            </a:pPr>
            <a:r>
              <a:rPr lang="en-US" sz="2500" b="1" dirty="0">
                <a:solidFill>
                  <a:srgbClr val="0B3D2A"/>
                </a:solidFill>
                <a:latin typeface="Roboto" pitchFamily="34" charset="0"/>
                <a:ea typeface="Roboto" pitchFamily="34" charset="-122"/>
                <a:cs typeface="Roboto" pitchFamily="34" charset="-120"/>
              </a:rPr>
              <a:t>+65.6%</a:t>
            </a:r>
            <a:endParaRPr lang="en-US" sz="2500" dirty="0"/>
          </a:p>
        </p:txBody>
      </p:sp>
      <p:sp>
        <p:nvSpPr>
          <p:cNvPr id="19" name="Text 15"/>
          <p:cNvSpPr/>
          <p:nvPr/>
        </p:nvSpPr>
        <p:spPr>
          <a:xfrm>
            <a:off x="8449056" y="4544568"/>
            <a:ext cx="3008376"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Net revenue</a:t>
            </a:r>
            <a:endParaRPr lang="en-US" sz="1000" dirty="0"/>
          </a:p>
        </p:txBody>
      </p:sp>
      <p:sp>
        <p:nvSpPr>
          <p:cNvPr id="20" name="Text 16"/>
          <p:cNvSpPr/>
          <p:nvPr/>
        </p:nvSpPr>
        <p:spPr>
          <a:xfrm>
            <a:off x="8449056" y="4818888"/>
            <a:ext cx="3008376"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2.6× firm-count growth</a:t>
            </a:r>
            <a:endParaRPr lang="en-US" sz="820" dirty="0"/>
          </a:p>
        </p:txBody>
      </p:sp>
      <p:sp>
        <p:nvSpPr>
          <p:cNvPr id="21" name="Shape 17"/>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22" name="Text 18"/>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So what? Enterprise deepening is already visible—but employment growth lagged firm count, indicating that average scale has not expanded proportionately.</a:t>
            </a:r>
            <a:endParaRPr lang="en-US" sz="9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OWNERSHIP STRUCTURE</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Non-state firms dominate the count, but FDI and state firms carry disproportionate employment and capital</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pp. 37–43; calculations by Sa.Partners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graphicFrame>
        <p:nvGraphicFramePr>
          <p:cNvPr id="8" name="Chart 0" descr=""/>
          <p:cNvGraphicFramePr/>
          <p:nvPr/>
        </p:nvGraphicFramePr>
        <p:xfrm>
          <a:off x="502920" y="1353312"/>
          <a:ext cx="4754880" cy="41605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1938528" y="2615184"/>
            <a:ext cx="1828800" cy="457200"/>
          </a:xfrm>
          <a:prstGeom prst="rect">
            <a:avLst/>
          </a:prstGeom>
          <a:noFill/>
          <a:ln/>
        </p:spPr>
        <p:txBody>
          <a:bodyPr wrap="square" lIns="0" tIns="0" rIns="0" bIns="0" rtlCol="0" anchor="ctr"/>
          <a:lstStyle/>
          <a:p>
            <a:pPr algn="ctr" indent="0" marL="0">
              <a:buNone/>
            </a:pPr>
            <a:r>
              <a:rPr lang="en-US" sz="2500" b="1" dirty="0">
                <a:solidFill>
                  <a:srgbClr val="0B3D2A"/>
                </a:solidFill>
                <a:latin typeface="Roboto" pitchFamily="34" charset="0"/>
                <a:ea typeface="Roboto" pitchFamily="34" charset="-122"/>
                <a:cs typeface="Roboto" pitchFamily="34" charset="-120"/>
              </a:rPr>
              <a:t>96.3%</a:t>
            </a:r>
            <a:endParaRPr lang="en-US" sz="2500" dirty="0"/>
          </a:p>
        </p:txBody>
      </p:sp>
      <p:sp>
        <p:nvSpPr>
          <p:cNvPr id="10" name="Text 6"/>
          <p:cNvSpPr/>
          <p:nvPr/>
        </p:nvSpPr>
        <p:spPr>
          <a:xfrm>
            <a:off x="1719072" y="3108960"/>
            <a:ext cx="2267712" cy="256032"/>
          </a:xfrm>
          <a:prstGeom prst="rect">
            <a:avLst/>
          </a:prstGeom>
          <a:noFill/>
          <a:ln/>
        </p:spPr>
        <p:txBody>
          <a:bodyPr wrap="square" lIns="0" tIns="0" rIns="0" bIns="0" rtlCol="0" anchor="ctr"/>
          <a:lstStyle/>
          <a:p>
            <a:pPr algn="ctr" indent="0" marL="0">
              <a:buNone/>
            </a:pPr>
            <a:r>
              <a:rPr lang="en-US" sz="900" dirty="0">
                <a:solidFill>
                  <a:srgbClr val="66746B"/>
                </a:solidFill>
                <a:latin typeface="Roboto" pitchFamily="34" charset="0"/>
                <a:ea typeface="Roboto" pitchFamily="34" charset="-122"/>
                <a:cs typeface="Roboto" pitchFamily="34" charset="-120"/>
              </a:rPr>
              <a:t>of active firms are non-state</a:t>
            </a:r>
            <a:endParaRPr lang="en-US" sz="900" dirty="0"/>
          </a:p>
        </p:txBody>
      </p:sp>
      <p:sp>
        <p:nvSpPr>
          <p:cNvPr id="11" name="Text 7"/>
          <p:cNvSpPr/>
          <p:nvPr/>
        </p:nvSpPr>
        <p:spPr>
          <a:xfrm>
            <a:off x="5532120" y="1444752"/>
            <a:ext cx="2286000" cy="219456"/>
          </a:xfrm>
          <a:prstGeom prst="rect">
            <a:avLst/>
          </a:prstGeom>
          <a:noFill/>
          <a:ln/>
        </p:spPr>
        <p:txBody>
          <a:bodyPr wrap="square" lIns="0" tIns="0" rIns="0" bIns="0" rtlCol="0" anchor="ctr"/>
          <a:lstStyle/>
          <a:p>
            <a:pPr indent="0" marL="0">
              <a:buNone/>
            </a:pPr>
            <a:r>
              <a:rPr lang="en-US" sz="850" b="1" dirty="0">
                <a:solidFill>
                  <a:srgbClr val="8C7A3A"/>
                </a:solidFill>
                <a:latin typeface="Roboto" pitchFamily="34" charset="0"/>
                <a:ea typeface="Roboto" pitchFamily="34" charset="-122"/>
                <a:cs typeface="Roboto" pitchFamily="34" charset="-120"/>
              </a:rPr>
              <a:t>SHARE OF 2025 TOTAL</a:t>
            </a:r>
            <a:endParaRPr lang="en-US" sz="850" dirty="0"/>
          </a:p>
        </p:txBody>
      </p:sp>
      <p:sp>
        <p:nvSpPr>
          <p:cNvPr id="12" name="Text 8"/>
          <p:cNvSpPr/>
          <p:nvPr/>
        </p:nvSpPr>
        <p:spPr>
          <a:xfrm>
            <a:off x="5532120" y="1792224"/>
            <a:ext cx="2011680" cy="274320"/>
          </a:xfrm>
          <a:prstGeom prst="rect">
            <a:avLst/>
          </a:prstGeom>
          <a:noFill/>
          <a:ln/>
        </p:spPr>
        <p:txBody>
          <a:bodyPr wrap="square" lIns="0" tIns="0" rIns="0" bIns="0" rtlCol="0" anchor="ctr"/>
          <a:lstStyle/>
          <a:p>
            <a:pPr algn="l" indent="0" marL="0">
              <a:buNone/>
            </a:pPr>
            <a:r>
              <a:rPr lang="en-US" sz="900" b="1" dirty="0">
                <a:solidFill>
                  <a:srgbClr val="66746B"/>
                </a:solidFill>
                <a:latin typeface="Roboto" pitchFamily="34" charset="0"/>
                <a:ea typeface="Roboto" pitchFamily="34" charset="-122"/>
                <a:cs typeface="Roboto" pitchFamily="34" charset="-120"/>
              </a:rPr>
              <a:t>Ownership</a:t>
            </a:r>
            <a:endParaRPr lang="en-US" sz="900" dirty="0"/>
          </a:p>
        </p:txBody>
      </p:sp>
      <p:sp>
        <p:nvSpPr>
          <p:cNvPr id="13" name="Text 9"/>
          <p:cNvSpPr/>
          <p:nvPr/>
        </p:nvSpPr>
        <p:spPr>
          <a:xfrm>
            <a:off x="7726680" y="1792224"/>
            <a:ext cx="914400" cy="274320"/>
          </a:xfrm>
          <a:prstGeom prst="rect">
            <a:avLst/>
          </a:prstGeom>
          <a:noFill/>
          <a:ln/>
        </p:spPr>
        <p:txBody>
          <a:bodyPr wrap="square" lIns="0" tIns="0" rIns="0" bIns="0" rtlCol="0" anchor="ctr"/>
          <a:lstStyle/>
          <a:p>
            <a:pPr algn="ctr" indent="0" marL="0">
              <a:buNone/>
            </a:pPr>
            <a:r>
              <a:rPr lang="en-US" sz="900" b="1" dirty="0">
                <a:solidFill>
                  <a:srgbClr val="66746B"/>
                </a:solidFill>
                <a:latin typeface="Roboto" pitchFamily="34" charset="0"/>
                <a:ea typeface="Roboto" pitchFamily="34" charset="-122"/>
                <a:cs typeface="Roboto" pitchFamily="34" charset="-120"/>
              </a:rPr>
              <a:t>Firms</a:t>
            </a:r>
            <a:endParaRPr lang="en-US" sz="900" dirty="0"/>
          </a:p>
        </p:txBody>
      </p:sp>
      <p:sp>
        <p:nvSpPr>
          <p:cNvPr id="14" name="Text 10"/>
          <p:cNvSpPr/>
          <p:nvPr/>
        </p:nvSpPr>
        <p:spPr>
          <a:xfrm>
            <a:off x="8823960" y="1792224"/>
            <a:ext cx="1097280" cy="274320"/>
          </a:xfrm>
          <a:prstGeom prst="rect">
            <a:avLst/>
          </a:prstGeom>
          <a:noFill/>
          <a:ln/>
        </p:spPr>
        <p:txBody>
          <a:bodyPr wrap="square" lIns="0" tIns="0" rIns="0" bIns="0" rtlCol="0" anchor="ctr"/>
          <a:lstStyle/>
          <a:p>
            <a:pPr algn="ctr" indent="0" marL="0">
              <a:buNone/>
            </a:pPr>
            <a:r>
              <a:rPr lang="en-US" sz="900" b="1" dirty="0">
                <a:solidFill>
                  <a:srgbClr val="66746B"/>
                </a:solidFill>
                <a:latin typeface="Roboto" pitchFamily="34" charset="0"/>
                <a:ea typeface="Roboto" pitchFamily="34" charset="-122"/>
                <a:cs typeface="Roboto" pitchFamily="34" charset="-120"/>
              </a:rPr>
              <a:t>Employment</a:t>
            </a:r>
            <a:endParaRPr lang="en-US" sz="900" dirty="0"/>
          </a:p>
        </p:txBody>
      </p:sp>
      <p:sp>
        <p:nvSpPr>
          <p:cNvPr id="15" name="Text 11"/>
          <p:cNvSpPr/>
          <p:nvPr/>
        </p:nvSpPr>
        <p:spPr>
          <a:xfrm>
            <a:off x="10104120" y="1792224"/>
            <a:ext cx="1005840" cy="274320"/>
          </a:xfrm>
          <a:prstGeom prst="rect">
            <a:avLst/>
          </a:prstGeom>
          <a:noFill/>
          <a:ln/>
        </p:spPr>
        <p:txBody>
          <a:bodyPr wrap="square" lIns="0" tIns="0" rIns="0" bIns="0" rtlCol="0" anchor="ctr"/>
          <a:lstStyle/>
          <a:p>
            <a:pPr algn="ctr" indent="0" marL="0">
              <a:buNone/>
            </a:pPr>
            <a:r>
              <a:rPr lang="en-US" sz="900" b="1" dirty="0">
                <a:solidFill>
                  <a:srgbClr val="66746B"/>
                </a:solidFill>
                <a:latin typeface="Roboto" pitchFamily="34" charset="0"/>
                <a:ea typeface="Roboto" pitchFamily="34" charset="-122"/>
                <a:cs typeface="Roboto" pitchFamily="34" charset="-120"/>
              </a:rPr>
              <a:t>Capital</a:t>
            </a:r>
            <a:endParaRPr lang="en-US" sz="900" dirty="0"/>
          </a:p>
        </p:txBody>
      </p:sp>
      <p:sp>
        <p:nvSpPr>
          <p:cNvPr id="16" name="Shape 12"/>
          <p:cNvSpPr/>
          <p:nvPr/>
        </p:nvSpPr>
        <p:spPr>
          <a:xfrm>
            <a:off x="5486400" y="2212848"/>
            <a:ext cx="6144768" cy="713232"/>
          </a:xfrm>
          <a:prstGeom prst="roundRect">
            <a:avLst>
              <a:gd name="adj" fmla="val 7692"/>
            </a:avLst>
          </a:prstGeom>
          <a:solidFill>
            <a:srgbClr val="DDE8DF"/>
          </a:solidFill>
          <a:ln w="12700">
            <a:solidFill>
              <a:srgbClr val="D8DED8"/>
            </a:solidFill>
            <a:prstDash val="solid"/>
          </a:ln>
        </p:spPr>
      </p:sp>
      <p:sp>
        <p:nvSpPr>
          <p:cNvPr id="17" name="Shape 13"/>
          <p:cNvSpPr/>
          <p:nvPr/>
        </p:nvSpPr>
        <p:spPr>
          <a:xfrm>
            <a:off x="5632704" y="2395728"/>
            <a:ext cx="109728" cy="347472"/>
          </a:xfrm>
          <a:prstGeom prst="rect">
            <a:avLst/>
          </a:prstGeom>
          <a:solidFill>
            <a:srgbClr val="0B3D2A"/>
          </a:solidFill>
          <a:ln w="12700">
            <a:solidFill>
              <a:srgbClr val="0B3D2A"/>
            </a:solidFill>
            <a:prstDash val="solid"/>
          </a:ln>
        </p:spPr>
      </p:sp>
      <p:sp>
        <p:nvSpPr>
          <p:cNvPr id="18" name="Text 14"/>
          <p:cNvSpPr/>
          <p:nvPr/>
        </p:nvSpPr>
        <p:spPr>
          <a:xfrm>
            <a:off x="5870448" y="2350008"/>
            <a:ext cx="1691640" cy="38404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Non-state</a:t>
            </a:r>
            <a:endParaRPr lang="en-US" sz="1000" dirty="0"/>
          </a:p>
        </p:txBody>
      </p:sp>
      <p:sp>
        <p:nvSpPr>
          <p:cNvPr id="19" name="Text 15"/>
          <p:cNvSpPr/>
          <p:nvPr/>
        </p:nvSpPr>
        <p:spPr>
          <a:xfrm>
            <a:off x="7726680" y="2350008"/>
            <a:ext cx="91440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96.3%</a:t>
            </a:r>
            <a:endParaRPr lang="en-US" sz="1100" dirty="0"/>
          </a:p>
        </p:txBody>
      </p:sp>
      <p:sp>
        <p:nvSpPr>
          <p:cNvPr id="20" name="Text 16"/>
          <p:cNvSpPr/>
          <p:nvPr/>
        </p:nvSpPr>
        <p:spPr>
          <a:xfrm>
            <a:off x="8823960" y="2350008"/>
            <a:ext cx="109728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59.7%</a:t>
            </a:r>
            <a:endParaRPr lang="en-US" sz="1100" dirty="0"/>
          </a:p>
        </p:txBody>
      </p:sp>
      <p:sp>
        <p:nvSpPr>
          <p:cNvPr id="21" name="Text 17"/>
          <p:cNvSpPr/>
          <p:nvPr/>
        </p:nvSpPr>
        <p:spPr>
          <a:xfrm>
            <a:off x="10104120" y="2350008"/>
            <a:ext cx="100584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59.2%</a:t>
            </a:r>
            <a:endParaRPr lang="en-US" sz="1100" dirty="0"/>
          </a:p>
        </p:txBody>
      </p:sp>
      <p:sp>
        <p:nvSpPr>
          <p:cNvPr id="22" name="Shape 18"/>
          <p:cNvSpPr/>
          <p:nvPr/>
        </p:nvSpPr>
        <p:spPr>
          <a:xfrm>
            <a:off x="5486400" y="3154680"/>
            <a:ext cx="6144768" cy="713232"/>
          </a:xfrm>
          <a:prstGeom prst="roundRect">
            <a:avLst>
              <a:gd name="adj" fmla="val 7692"/>
            </a:avLst>
          </a:prstGeom>
          <a:solidFill>
            <a:srgbClr val="FBFAF3"/>
          </a:solidFill>
          <a:ln w="12700">
            <a:solidFill>
              <a:srgbClr val="D8DED8"/>
            </a:solidFill>
            <a:prstDash val="solid"/>
          </a:ln>
        </p:spPr>
      </p:sp>
      <p:sp>
        <p:nvSpPr>
          <p:cNvPr id="23" name="Shape 19"/>
          <p:cNvSpPr/>
          <p:nvPr/>
        </p:nvSpPr>
        <p:spPr>
          <a:xfrm>
            <a:off x="5632704" y="3337560"/>
            <a:ext cx="109728" cy="347472"/>
          </a:xfrm>
          <a:prstGeom prst="rect">
            <a:avLst/>
          </a:prstGeom>
          <a:solidFill>
            <a:srgbClr val="C6A447"/>
          </a:solidFill>
          <a:ln w="12700">
            <a:solidFill>
              <a:srgbClr val="C6A447"/>
            </a:solidFill>
            <a:prstDash val="solid"/>
          </a:ln>
        </p:spPr>
      </p:sp>
      <p:sp>
        <p:nvSpPr>
          <p:cNvPr id="24" name="Text 20"/>
          <p:cNvSpPr/>
          <p:nvPr/>
        </p:nvSpPr>
        <p:spPr>
          <a:xfrm>
            <a:off x="5870448" y="3291840"/>
            <a:ext cx="1691640" cy="38404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FDI</a:t>
            </a:r>
            <a:endParaRPr lang="en-US" sz="1000" dirty="0"/>
          </a:p>
        </p:txBody>
      </p:sp>
      <p:sp>
        <p:nvSpPr>
          <p:cNvPr id="25" name="Text 21"/>
          <p:cNvSpPr/>
          <p:nvPr/>
        </p:nvSpPr>
        <p:spPr>
          <a:xfrm>
            <a:off x="7726680" y="3291840"/>
            <a:ext cx="91440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3.5%</a:t>
            </a:r>
            <a:endParaRPr lang="en-US" sz="1100" dirty="0"/>
          </a:p>
        </p:txBody>
      </p:sp>
      <p:sp>
        <p:nvSpPr>
          <p:cNvPr id="26" name="Text 22"/>
          <p:cNvSpPr/>
          <p:nvPr/>
        </p:nvSpPr>
        <p:spPr>
          <a:xfrm>
            <a:off x="8823960" y="3291840"/>
            <a:ext cx="109728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34.7%</a:t>
            </a:r>
            <a:endParaRPr lang="en-US" sz="1100" dirty="0"/>
          </a:p>
        </p:txBody>
      </p:sp>
      <p:sp>
        <p:nvSpPr>
          <p:cNvPr id="27" name="Text 23"/>
          <p:cNvSpPr/>
          <p:nvPr/>
        </p:nvSpPr>
        <p:spPr>
          <a:xfrm>
            <a:off x="10104120" y="3291840"/>
            <a:ext cx="100584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20.7%</a:t>
            </a:r>
            <a:endParaRPr lang="en-US" sz="1100" dirty="0"/>
          </a:p>
        </p:txBody>
      </p:sp>
      <p:sp>
        <p:nvSpPr>
          <p:cNvPr id="28" name="Shape 24"/>
          <p:cNvSpPr/>
          <p:nvPr/>
        </p:nvSpPr>
        <p:spPr>
          <a:xfrm>
            <a:off x="5486400" y="4096512"/>
            <a:ext cx="6144768" cy="713232"/>
          </a:xfrm>
          <a:prstGeom prst="roundRect">
            <a:avLst>
              <a:gd name="adj" fmla="val 7692"/>
            </a:avLst>
          </a:prstGeom>
          <a:solidFill>
            <a:srgbClr val="FBFAF3"/>
          </a:solidFill>
          <a:ln w="12700">
            <a:solidFill>
              <a:srgbClr val="D8DED8"/>
            </a:solidFill>
            <a:prstDash val="solid"/>
          </a:ln>
        </p:spPr>
      </p:sp>
      <p:sp>
        <p:nvSpPr>
          <p:cNvPr id="29" name="Shape 25"/>
          <p:cNvSpPr/>
          <p:nvPr/>
        </p:nvSpPr>
        <p:spPr>
          <a:xfrm>
            <a:off x="5632704" y="4279392"/>
            <a:ext cx="109728" cy="347472"/>
          </a:xfrm>
          <a:prstGeom prst="rect">
            <a:avLst/>
          </a:prstGeom>
          <a:solidFill>
            <a:srgbClr val="66746B"/>
          </a:solidFill>
          <a:ln w="12700">
            <a:solidFill>
              <a:srgbClr val="66746B"/>
            </a:solidFill>
            <a:prstDash val="solid"/>
          </a:ln>
        </p:spPr>
      </p:sp>
      <p:sp>
        <p:nvSpPr>
          <p:cNvPr id="30" name="Text 26"/>
          <p:cNvSpPr/>
          <p:nvPr/>
        </p:nvSpPr>
        <p:spPr>
          <a:xfrm>
            <a:off x="5870448" y="4233672"/>
            <a:ext cx="1691640" cy="38404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State-owned</a:t>
            </a:r>
            <a:endParaRPr lang="en-US" sz="1000" dirty="0"/>
          </a:p>
        </p:txBody>
      </p:sp>
      <p:sp>
        <p:nvSpPr>
          <p:cNvPr id="31" name="Text 27"/>
          <p:cNvSpPr/>
          <p:nvPr/>
        </p:nvSpPr>
        <p:spPr>
          <a:xfrm>
            <a:off x="7726680" y="4233672"/>
            <a:ext cx="91440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0.2%</a:t>
            </a:r>
            <a:endParaRPr lang="en-US" sz="1100" dirty="0"/>
          </a:p>
        </p:txBody>
      </p:sp>
      <p:sp>
        <p:nvSpPr>
          <p:cNvPr id="32" name="Text 28"/>
          <p:cNvSpPr/>
          <p:nvPr/>
        </p:nvSpPr>
        <p:spPr>
          <a:xfrm>
            <a:off x="8823960" y="4233672"/>
            <a:ext cx="109728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5.6%</a:t>
            </a:r>
            <a:endParaRPr lang="en-US" sz="1100" dirty="0"/>
          </a:p>
        </p:txBody>
      </p:sp>
      <p:sp>
        <p:nvSpPr>
          <p:cNvPr id="33" name="Text 29"/>
          <p:cNvSpPr/>
          <p:nvPr/>
        </p:nvSpPr>
        <p:spPr>
          <a:xfrm>
            <a:off x="10104120" y="4233672"/>
            <a:ext cx="1005840" cy="384048"/>
          </a:xfrm>
          <a:prstGeom prst="rect">
            <a:avLst/>
          </a:prstGeom>
          <a:noFill/>
          <a:ln/>
        </p:spPr>
        <p:txBody>
          <a:bodyPr wrap="square" lIns="0" tIns="0" rIns="0" bIns="0" rtlCol="0" anchor="ctr"/>
          <a:lstStyle/>
          <a:p>
            <a:pPr algn="ctr" indent="0" marL="0">
              <a:buNone/>
            </a:pPr>
            <a:r>
              <a:rPr lang="en-US" sz="1100" b="1" dirty="0">
                <a:solidFill>
                  <a:srgbClr val="17211B"/>
                </a:solidFill>
                <a:latin typeface="Roboto" pitchFamily="34" charset="0"/>
                <a:ea typeface="Roboto" pitchFamily="34" charset="-122"/>
                <a:cs typeface="Roboto" pitchFamily="34" charset="-120"/>
              </a:rPr>
              <a:t>20.2%</a:t>
            </a:r>
            <a:endParaRPr lang="en-US" sz="1100" dirty="0"/>
          </a:p>
        </p:txBody>
      </p:sp>
      <p:sp>
        <p:nvSpPr>
          <p:cNvPr id="34" name="Shape 30"/>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35" name="Text 31"/>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So what? The private domestic sector is the formalization engine, but FDI and state firms remain the scale anchors of jobs and capital.</a:t>
            </a:r>
            <a:endParaRPr lang="en-US" sz="9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SECTOR STRUCTURE</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Services hold 71% of firms, while industry and construction still employ 59% of enterprise workers</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pp. 38–41; calculations by Sa.Partners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graphicFrame>
        <p:nvGraphicFramePr>
          <p:cNvPr id="8" name="Chart 0" descr=""/>
          <p:cNvGraphicFramePr/>
          <p:nvPr/>
        </p:nvGraphicFramePr>
        <p:xfrm>
          <a:off x="530352" y="1417320"/>
          <a:ext cx="7635240" cy="406908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8458200" y="1508760"/>
            <a:ext cx="3090672" cy="1078992"/>
          </a:xfrm>
          <a:prstGeom prst="roundRect">
            <a:avLst>
              <a:gd name="adj" fmla="val 5085"/>
            </a:avLst>
          </a:prstGeom>
          <a:solidFill>
            <a:srgbClr val="FBFAF3"/>
          </a:solidFill>
          <a:ln w="12700">
            <a:solidFill>
              <a:srgbClr val="D8DED8"/>
            </a:solidFill>
            <a:prstDash val="solid"/>
          </a:ln>
        </p:spPr>
      </p:sp>
      <p:sp>
        <p:nvSpPr>
          <p:cNvPr id="10" name="Text 6"/>
          <p:cNvSpPr/>
          <p:nvPr/>
        </p:nvSpPr>
        <p:spPr>
          <a:xfrm>
            <a:off x="8622792" y="1627632"/>
            <a:ext cx="2761488" cy="393192"/>
          </a:xfrm>
          <a:prstGeom prst="rect">
            <a:avLst/>
          </a:prstGeom>
          <a:noFill/>
          <a:ln/>
        </p:spPr>
        <p:txBody>
          <a:bodyPr wrap="square" lIns="0" tIns="0" rIns="0" bIns="0" rtlCol="0" anchor="ctr"/>
          <a:lstStyle/>
          <a:p>
            <a:pPr indent="0" marL="0">
              <a:buNone/>
            </a:pPr>
            <a:r>
              <a:rPr lang="en-US" sz="2500" b="1" dirty="0">
                <a:solidFill>
                  <a:srgbClr val="0B3D2A"/>
                </a:solidFill>
                <a:latin typeface="Roboto" pitchFamily="34" charset="0"/>
                <a:ea typeface="Roboto" pitchFamily="34" charset="-122"/>
                <a:cs typeface="Roboto" pitchFamily="34" charset="-120"/>
              </a:rPr>
              <a:t>612.5k</a:t>
            </a:r>
            <a:endParaRPr lang="en-US" sz="2500" dirty="0"/>
          </a:p>
        </p:txBody>
      </p:sp>
      <p:sp>
        <p:nvSpPr>
          <p:cNvPr id="11" name="Text 7"/>
          <p:cNvSpPr/>
          <p:nvPr/>
        </p:nvSpPr>
        <p:spPr>
          <a:xfrm>
            <a:off x="8622792" y="2029968"/>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Service enterprises</a:t>
            </a:r>
            <a:endParaRPr lang="en-US" sz="1000" dirty="0"/>
          </a:p>
        </p:txBody>
      </p:sp>
      <p:sp>
        <p:nvSpPr>
          <p:cNvPr id="12" name="Text 8"/>
          <p:cNvSpPr/>
          <p:nvPr/>
        </p:nvSpPr>
        <p:spPr>
          <a:xfrm>
            <a:off x="8622792" y="2304288"/>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+31.3% vs 2020</a:t>
            </a:r>
            <a:endParaRPr lang="en-US" sz="820" dirty="0"/>
          </a:p>
        </p:txBody>
      </p:sp>
      <p:sp>
        <p:nvSpPr>
          <p:cNvPr id="13" name="Shape 9"/>
          <p:cNvSpPr/>
          <p:nvPr/>
        </p:nvSpPr>
        <p:spPr>
          <a:xfrm>
            <a:off x="8458200" y="2779776"/>
            <a:ext cx="3090672" cy="1078992"/>
          </a:xfrm>
          <a:prstGeom prst="roundRect">
            <a:avLst>
              <a:gd name="adj" fmla="val 5085"/>
            </a:avLst>
          </a:prstGeom>
          <a:solidFill>
            <a:srgbClr val="F2EBD6"/>
          </a:solidFill>
          <a:ln w="12700">
            <a:solidFill>
              <a:srgbClr val="D8DED8"/>
            </a:solidFill>
            <a:prstDash val="solid"/>
          </a:ln>
        </p:spPr>
      </p:sp>
      <p:sp>
        <p:nvSpPr>
          <p:cNvPr id="14" name="Text 10"/>
          <p:cNvSpPr/>
          <p:nvPr/>
        </p:nvSpPr>
        <p:spPr>
          <a:xfrm>
            <a:off x="8622792" y="2898648"/>
            <a:ext cx="2761488" cy="393192"/>
          </a:xfrm>
          <a:prstGeom prst="rect">
            <a:avLst/>
          </a:prstGeom>
          <a:noFill/>
          <a:ln/>
        </p:spPr>
        <p:txBody>
          <a:bodyPr wrap="square" lIns="0" tIns="0" rIns="0" bIns="0" rtlCol="0" anchor="ctr"/>
          <a:lstStyle/>
          <a:p>
            <a:pPr indent="0" marL="0">
              <a:buNone/>
            </a:pPr>
            <a:r>
              <a:rPr lang="en-US" sz="2500" b="1" dirty="0">
                <a:solidFill>
                  <a:srgbClr val="8C7A3A"/>
                </a:solidFill>
                <a:latin typeface="Roboto" pitchFamily="34" charset="0"/>
                <a:ea typeface="Roboto" pitchFamily="34" charset="-122"/>
                <a:cs typeface="Roboto" pitchFamily="34" charset="-120"/>
              </a:rPr>
              <a:t>10.4m</a:t>
            </a:r>
            <a:endParaRPr lang="en-US" sz="2500" dirty="0"/>
          </a:p>
        </p:txBody>
      </p:sp>
      <p:sp>
        <p:nvSpPr>
          <p:cNvPr id="15" name="Text 11"/>
          <p:cNvSpPr/>
          <p:nvPr/>
        </p:nvSpPr>
        <p:spPr>
          <a:xfrm>
            <a:off x="8622792" y="3300984"/>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Industry workers</a:t>
            </a:r>
            <a:endParaRPr lang="en-US" sz="1000" dirty="0"/>
          </a:p>
        </p:txBody>
      </p:sp>
      <p:sp>
        <p:nvSpPr>
          <p:cNvPr id="16" name="Text 12"/>
          <p:cNvSpPr/>
          <p:nvPr/>
        </p:nvSpPr>
        <p:spPr>
          <a:xfrm>
            <a:off x="8622792" y="3575304"/>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Largest employment pool</a:t>
            </a:r>
            <a:endParaRPr lang="en-US" sz="820" dirty="0"/>
          </a:p>
        </p:txBody>
      </p:sp>
      <p:sp>
        <p:nvSpPr>
          <p:cNvPr id="17" name="Shape 13"/>
          <p:cNvSpPr/>
          <p:nvPr/>
        </p:nvSpPr>
        <p:spPr>
          <a:xfrm>
            <a:off x="8458200" y="4050792"/>
            <a:ext cx="3090672" cy="1078992"/>
          </a:xfrm>
          <a:prstGeom prst="roundRect">
            <a:avLst>
              <a:gd name="adj" fmla="val 5085"/>
            </a:avLst>
          </a:prstGeom>
          <a:solidFill>
            <a:srgbClr val="F6E2E0"/>
          </a:solidFill>
          <a:ln w="12700">
            <a:solidFill>
              <a:srgbClr val="D8DED8"/>
            </a:solidFill>
            <a:prstDash val="solid"/>
          </a:ln>
        </p:spPr>
      </p:sp>
      <p:sp>
        <p:nvSpPr>
          <p:cNvPr id="18" name="Text 14"/>
          <p:cNvSpPr/>
          <p:nvPr/>
        </p:nvSpPr>
        <p:spPr>
          <a:xfrm>
            <a:off x="8622792" y="4169664"/>
            <a:ext cx="2761488" cy="393192"/>
          </a:xfrm>
          <a:prstGeom prst="rect">
            <a:avLst/>
          </a:prstGeom>
          <a:noFill/>
          <a:ln/>
        </p:spPr>
        <p:txBody>
          <a:bodyPr wrap="square" lIns="0" tIns="0" rIns="0" bIns="0" rtlCol="0" anchor="ctr"/>
          <a:lstStyle/>
          <a:p>
            <a:pPr indent="0" marL="0">
              <a:buNone/>
            </a:pPr>
            <a:r>
              <a:rPr lang="en-US" sz="2500" b="1" dirty="0">
                <a:solidFill>
                  <a:srgbClr val="B6423C"/>
                </a:solidFill>
                <a:latin typeface="Roboto" pitchFamily="34" charset="0"/>
                <a:ea typeface="Roboto" pitchFamily="34" charset="-122"/>
                <a:cs typeface="Roboto" pitchFamily="34" charset="-120"/>
              </a:rPr>
              <a:t>−5.2%</a:t>
            </a:r>
            <a:endParaRPr lang="en-US" sz="2500" dirty="0"/>
          </a:p>
        </p:txBody>
      </p:sp>
      <p:sp>
        <p:nvSpPr>
          <p:cNvPr id="19" name="Text 15"/>
          <p:cNvSpPr/>
          <p:nvPr/>
        </p:nvSpPr>
        <p:spPr>
          <a:xfrm>
            <a:off x="8622792" y="4572000"/>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Industry firms YoY</a:t>
            </a:r>
            <a:endParaRPr lang="en-US" sz="1000" dirty="0"/>
          </a:p>
        </p:txBody>
      </p:sp>
      <p:sp>
        <p:nvSpPr>
          <p:cNvPr id="20" name="Text 16"/>
          <p:cNvSpPr/>
          <p:nvPr/>
        </p:nvSpPr>
        <p:spPr>
          <a:xfrm>
            <a:off x="8622792" y="4846320"/>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2025 vs 2024</a:t>
            </a:r>
            <a:endParaRPr lang="en-US" sz="820" dirty="0"/>
          </a:p>
        </p:txBody>
      </p:sp>
      <p:sp>
        <p:nvSpPr>
          <p:cNvPr id="21" name="Shape 17"/>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22" name="Text 18"/>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So what? Services are the entry point for formalization, but industrial firms remain the job-density engine—and their 2025 count contracted.</a:t>
            </a:r>
            <a:endParaRPr lang="en-US" sz="9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ENTERPRISE SCALE</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The typical domestic private firm employs 13 people—one-sixteenth the FDI average</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p. 40</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graphicFrame>
        <p:nvGraphicFramePr>
          <p:cNvPr id="8" name="Chart 0" descr=""/>
          <p:cNvGraphicFramePr/>
          <p:nvPr/>
        </p:nvGraphicFramePr>
        <p:xfrm>
          <a:off x="566928" y="1417320"/>
          <a:ext cx="7543800" cy="406908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8394192" y="1481328"/>
            <a:ext cx="3200400" cy="3611880"/>
          </a:xfrm>
          <a:prstGeom prst="roundRect">
            <a:avLst>
              <a:gd name="adj" fmla="val 1714"/>
            </a:avLst>
          </a:prstGeom>
          <a:solidFill>
            <a:srgbClr val="062416"/>
          </a:solidFill>
          <a:ln w="12700">
            <a:solidFill>
              <a:srgbClr val="062416"/>
            </a:solidFill>
            <a:prstDash val="solid"/>
          </a:ln>
        </p:spPr>
      </p:sp>
      <p:sp>
        <p:nvSpPr>
          <p:cNvPr id="10" name="Text 6"/>
          <p:cNvSpPr/>
          <p:nvPr/>
        </p:nvSpPr>
        <p:spPr>
          <a:xfrm>
            <a:off x="8641080" y="1737360"/>
            <a:ext cx="2560320" cy="246888"/>
          </a:xfrm>
          <a:prstGeom prst="rect">
            <a:avLst/>
          </a:prstGeom>
          <a:noFill/>
          <a:ln/>
        </p:spPr>
        <p:txBody>
          <a:bodyPr wrap="square" lIns="0" tIns="0" rIns="0" bIns="0" rtlCol="0" anchor="ctr"/>
          <a:lstStyle/>
          <a:p>
            <a:pPr indent="0" marL="0">
              <a:buNone/>
            </a:pPr>
            <a:r>
              <a:rPr lang="en-US" sz="850" b="1" dirty="0">
                <a:solidFill>
                  <a:srgbClr val="C6A447"/>
                </a:solidFill>
                <a:latin typeface="Roboto" pitchFamily="34" charset="0"/>
                <a:ea typeface="Roboto" pitchFamily="34" charset="-122"/>
                <a:cs typeface="Roboto" pitchFamily="34" charset="-120"/>
              </a:rPr>
              <a:t>THE SCALE GAP</a:t>
            </a:r>
            <a:endParaRPr lang="en-US" sz="850" dirty="0"/>
          </a:p>
        </p:txBody>
      </p:sp>
      <p:sp>
        <p:nvSpPr>
          <p:cNvPr id="11" name="Text 7"/>
          <p:cNvSpPr/>
          <p:nvPr/>
        </p:nvSpPr>
        <p:spPr>
          <a:xfrm>
            <a:off x="8622792" y="2212848"/>
            <a:ext cx="2560320" cy="548640"/>
          </a:xfrm>
          <a:prstGeom prst="rect">
            <a:avLst/>
          </a:prstGeom>
          <a:noFill/>
          <a:ln/>
        </p:spPr>
        <p:txBody>
          <a:bodyPr wrap="square" lIns="0" tIns="0" rIns="0" bIns="0" rtlCol="0" anchor="ctr"/>
          <a:lstStyle/>
          <a:p>
            <a:pPr indent="0" marL="0">
              <a:buNone/>
            </a:pPr>
            <a:r>
              <a:rPr lang="en-US" sz="3100" b="1" dirty="0">
                <a:solidFill>
                  <a:srgbClr val="F6F1DF"/>
                </a:solidFill>
                <a:latin typeface="Roboto" pitchFamily="34" charset="0"/>
                <a:ea typeface="Roboto" pitchFamily="34" charset="-122"/>
                <a:cs typeface="Roboto" pitchFamily="34" charset="-120"/>
              </a:rPr>
              <a:t>16.4×</a:t>
            </a:r>
            <a:endParaRPr lang="en-US" sz="3100" dirty="0"/>
          </a:p>
        </p:txBody>
      </p:sp>
      <p:sp>
        <p:nvSpPr>
          <p:cNvPr id="12" name="Text 8"/>
          <p:cNvSpPr/>
          <p:nvPr/>
        </p:nvSpPr>
        <p:spPr>
          <a:xfrm>
            <a:off x="8641080" y="2770632"/>
            <a:ext cx="2468880" cy="594360"/>
          </a:xfrm>
          <a:prstGeom prst="rect">
            <a:avLst/>
          </a:prstGeom>
          <a:noFill/>
          <a:ln/>
        </p:spPr>
        <p:txBody>
          <a:bodyPr wrap="square" lIns="0" tIns="0" rIns="0" bIns="0" rtlCol="0" anchor="t"/>
          <a:lstStyle/>
          <a:p>
            <a:pPr indent="0" marL="0">
              <a:buNone/>
            </a:pPr>
            <a:r>
              <a:rPr lang="en-US" sz="1200" b="1" dirty="0">
                <a:solidFill>
                  <a:srgbClr val="DDE8DF"/>
                </a:solidFill>
                <a:latin typeface="Roboto" pitchFamily="34" charset="0"/>
                <a:ea typeface="Roboto" pitchFamily="34" charset="-122"/>
                <a:cs typeface="Roboto" pitchFamily="34" charset="-120"/>
              </a:rPr>
              <a:t>FDI employment per firm</a:t>
            </a:r>
            <a:endParaRPr lang="en-US" sz="1200" dirty="0"/>
          </a:p>
          <a:p>
            <a:pPr indent="0" marL="0">
              <a:buNone/>
            </a:pPr>
            <a:r>
              <a:rPr lang="en-US" sz="1200" b="1" dirty="0">
                <a:solidFill>
                  <a:srgbClr val="DDE8DF"/>
                </a:solidFill>
                <a:latin typeface="Roboto" pitchFamily="34" charset="0"/>
                <a:ea typeface="Roboto" pitchFamily="34" charset="-122"/>
                <a:cs typeface="Roboto" pitchFamily="34" charset="-120"/>
              </a:rPr>
              <a:t>vs non-state</a:t>
            </a:r>
            <a:endParaRPr lang="en-US" sz="1200" dirty="0"/>
          </a:p>
        </p:txBody>
      </p:sp>
      <p:sp>
        <p:nvSpPr>
          <p:cNvPr id="13" name="Text 9"/>
          <p:cNvSpPr/>
          <p:nvPr/>
        </p:nvSpPr>
        <p:spPr>
          <a:xfrm>
            <a:off x="8641080" y="3712464"/>
            <a:ext cx="2423160" cy="822960"/>
          </a:xfrm>
          <a:prstGeom prst="rect">
            <a:avLst/>
          </a:prstGeom>
          <a:noFill/>
          <a:ln/>
        </p:spPr>
        <p:txBody>
          <a:bodyPr wrap="square" lIns="0" tIns="0" rIns="0" bIns="0" rtlCol="0" anchor="t"/>
          <a:lstStyle/>
          <a:p>
            <a:pPr indent="0" marL="0">
              <a:buNone/>
            </a:pPr>
            <a:r>
              <a:rPr lang="en-US" sz="1000" dirty="0">
                <a:solidFill>
                  <a:srgbClr val="F6F1DF"/>
                </a:solidFill>
                <a:latin typeface="Roboto" pitchFamily="34" charset="0"/>
                <a:ea typeface="Roboto" pitchFamily="34" charset="-122"/>
                <a:cs typeface="Roboto" pitchFamily="34" charset="-120"/>
              </a:rPr>
              <a:t>Domestic private enterprises are numerous, but their average organizational depth remains thin.</a:t>
            </a:r>
            <a:endParaRPr lang="en-US" sz="1000" dirty="0"/>
          </a:p>
        </p:txBody>
      </p:sp>
      <p:sp>
        <p:nvSpPr>
          <p:cNvPr id="14" name="Shape 10"/>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15" name="Text 11"/>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So what? Policies that only raise registrations can miss the binding constraint: management capacity, finance access and survival through the first growth stage.</a:t>
            </a:r>
            <a:endParaRPr lang="en-US" sz="9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REGIONAL STRUCTURE</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Two economic cores host 72% of firms, but northern frontier regions are growing faster from a smaller base</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pp. 39–42; calculations by Sa.Partners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Shape 5"/>
          <p:cNvSpPr/>
          <p:nvPr/>
        </p:nvSpPr>
        <p:spPr>
          <a:xfrm>
            <a:off x="566928" y="1481328"/>
            <a:ext cx="3429000" cy="3346704"/>
          </a:xfrm>
          <a:prstGeom prst="roundRect">
            <a:avLst>
              <a:gd name="adj" fmla="val 1639"/>
            </a:avLst>
          </a:prstGeom>
          <a:solidFill>
            <a:srgbClr val="FBFAF3"/>
          </a:solidFill>
          <a:ln w="12700">
            <a:solidFill>
              <a:srgbClr val="0B3D2A"/>
            </a:solidFill>
            <a:prstDash val="solid"/>
          </a:ln>
        </p:spPr>
      </p:sp>
      <p:sp>
        <p:nvSpPr>
          <p:cNvPr id="9" name="Shape 6"/>
          <p:cNvSpPr/>
          <p:nvPr/>
        </p:nvSpPr>
        <p:spPr>
          <a:xfrm>
            <a:off x="566928" y="1481328"/>
            <a:ext cx="3429000" cy="128016"/>
          </a:xfrm>
          <a:prstGeom prst="rect">
            <a:avLst/>
          </a:prstGeom>
          <a:solidFill>
            <a:srgbClr val="0B3D2A"/>
          </a:solidFill>
          <a:ln w="12700">
            <a:solidFill>
              <a:srgbClr val="0B3D2A"/>
            </a:solidFill>
            <a:prstDash val="solid"/>
          </a:ln>
        </p:spPr>
      </p:sp>
      <p:sp>
        <p:nvSpPr>
          <p:cNvPr id="10" name="Text 7"/>
          <p:cNvSpPr/>
          <p:nvPr/>
        </p:nvSpPr>
        <p:spPr>
          <a:xfrm>
            <a:off x="749808" y="1783080"/>
            <a:ext cx="3017520" cy="329184"/>
          </a:xfrm>
          <a:prstGeom prst="rect">
            <a:avLst/>
          </a:prstGeom>
          <a:noFill/>
          <a:ln/>
        </p:spPr>
        <p:txBody>
          <a:bodyPr wrap="square" lIns="0" tIns="0" rIns="0" bIns="0" rtlCol="0" anchor="ctr"/>
          <a:lstStyle/>
          <a:p>
            <a:pPr indent="0" marL="0">
              <a:buNone/>
            </a:pPr>
            <a:r>
              <a:rPr lang="en-US" sz="1300" b="1" dirty="0">
                <a:solidFill>
                  <a:srgbClr val="0B3D2A"/>
                </a:solidFill>
                <a:latin typeface="Roboto" pitchFamily="34" charset="0"/>
                <a:ea typeface="Roboto" pitchFamily="34" charset="-122"/>
                <a:cs typeface="Roboto" pitchFamily="34" charset="-120"/>
              </a:rPr>
              <a:t>Southeast</a:t>
            </a:r>
            <a:endParaRPr lang="en-US" sz="1300" dirty="0"/>
          </a:p>
        </p:txBody>
      </p:sp>
      <p:sp>
        <p:nvSpPr>
          <p:cNvPr id="11" name="Text 8"/>
          <p:cNvSpPr/>
          <p:nvPr/>
        </p:nvSpPr>
        <p:spPr>
          <a:xfrm>
            <a:off x="749808" y="2286000"/>
            <a:ext cx="1325880"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349.7k</a:t>
            </a:r>
            <a:endParaRPr lang="en-US" sz="2400" dirty="0"/>
          </a:p>
        </p:txBody>
      </p:sp>
      <p:sp>
        <p:nvSpPr>
          <p:cNvPr id="12" name="Text 9"/>
          <p:cNvSpPr/>
          <p:nvPr/>
        </p:nvSpPr>
        <p:spPr>
          <a:xfrm>
            <a:off x="749808" y="2743200"/>
            <a:ext cx="1325880"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active firms</a:t>
            </a:r>
            <a:endParaRPr lang="en-US" sz="800" dirty="0"/>
          </a:p>
        </p:txBody>
      </p:sp>
      <p:sp>
        <p:nvSpPr>
          <p:cNvPr id="13" name="Text 10"/>
          <p:cNvSpPr/>
          <p:nvPr/>
        </p:nvSpPr>
        <p:spPr>
          <a:xfrm>
            <a:off x="2331720" y="2286000"/>
            <a:ext cx="1298448"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6.4m</a:t>
            </a:r>
            <a:endParaRPr lang="en-US" sz="2400" dirty="0"/>
          </a:p>
        </p:txBody>
      </p:sp>
      <p:sp>
        <p:nvSpPr>
          <p:cNvPr id="14" name="Text 11"/>
          <p:cNvSpPr/>
          <p:nvPr/>
        </p:nvSpPr>
        <p:spPr>
          <a:xfrm>
            <a:off x="2331720" y="2743200"/>
            <a:ext cx="1298448"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enterprise jobs</a:t>
            </a:r>
            <a:endParaRPr lang="en-US" sz="800" dirty="0"/>
          </a:p>
        </p:txBody>
      </p:sp>
      <p:sp>
        <p:nvSpPr>
          <p:cNvPr id="15" name="Shape 12"/>
          <p:cNvSpPr/>
          <p:nvPr/>
        </p:nvSpPr>
        <p:spPr>
          <a:xfrm>
            <a:off x="749808" y="3255264"/>
            <a:ext cx="1325880" cy="274320"/>
          </a:xfrm>
          <a:prstGeom prst="roundRect">
            <a:avLst>
              <a:gd name="adj" fmla="val 46667"/>
            </a:avLst>
          </a:prstGeom>
          <a:solidFill>
            <a:srgbClr val="F6E2E0"/>
          </a:solidFill>
          <a:ln w="12700">
            <a:solidFill>
              <a:srgbClr val="F6E2E0"/>
            </a:solidFill>
            <a:prstDash val="solid"/>
          </a:ln>
        </p:spPr>
      </p:sp>
      <p:sp>
        <p:nvSpPr>
          <p:cNvPr id="16" name="Text 13"/>
          <p:cNvSpPr/>
          <p:nvPr/>
        </p:nvSpPr>
        <p:spPr>
          <a:xfrm>
            <a:off x="804672" y="3273552"/>
            <a:ext cx="121615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−0.3% YoY</a:t>
            </a:r>
            <a:endParaRPr lang="en-US" sz="750" dirty="0"/>
          </a:p>
        </p:txBody>
      </p:sp>
      <p:sp>
        <p:nvSpPr>
          <p:cNvPr id="17" name="Text 14"/>
          <p:cNvSpPr/>
          <p:nvPr/>
        </p:nvSpPr>
        <p:spPr>
          <a:xfrm>
            <a:off x="749808" y="3767328"/>
            <a:ext cx="2971800" cy="594360"/>
          </a:xfrm>
          <a:prstGeom prst="rect">
            <a:avLst/>
          </a:prstGeom>
          <a:noFill/>
          <a:ln/>
        </p:spPr>
        <p:txBody>
          <a:bodyPr wrap="square" lIns="0" tIns="0" rIns="0" bIns="0" rtlCol="0" anchor="t"/>
          <a:lstStyle/>
          <a:p>
            <a:pPr indent="0" marL="0">
              <a:buNone/>
            </a:pPr>
            <a:r>
              <a:rPr lang="en-US" sz="900" dirty="0">
                <a:solidFill>
                  <a:srgbClr val="17211B"/>
                </a:solidFill>
                <a:latin typeface="Roboto" pitchFamily="34" charset="0"/>
                <a:ea typeface="Roboto" pitchFamily="34" charset="-122"/>
                <a:cs typeface="Roboto" pitchFamily="34" charset="-120"/>
              </a:rPr>
              <a:t>Largest enterprise hub; signs of count saturation</a:t>
            </a:r>
            <a:endParaRPr lang="en-US" sz="900" dirty="0"/>
          </a:p>
        </p:txBody>
      </p:sp>
      <p:sp>
        <p:nvSpPr>
          <p:cNvPr id="18" name="Shape 15"/>
          <p:cNvSpPr/>
          <p:nvPr/>
        </p:nvSpPr>
        <p:spPr>
          <a:xfrm>
            <a:off x="4379976" y="1481328"/>
            <a:ext cx="3429000" cy="3346704"/>
          </a:xfrm>
          <a:prstGeom prst="roundRect">
            <a:avLst>
              <a:gd name="adj" fmla="val 1639"/>
            </a:avLst>
          </a:prstGeom>
          <a:solidFill>
            <a:srgbClr val="FBFAF3"/>
          </a:solidFill>
          <a:ln w="12700">
            <a:solidFill>
              <a:srgbClr val="14543B"/>
            </a:solidFill>
            <a:prstDash val="solid"/>
          </a:ln>
        </p:spPr>
      </p:sp>
      <p:sp>
        <p:nvSpPr>
          <p:cNvPr id="19" name="Shape 16"/>
          <p:cNvSpPr/>
          <p:nvPr/>
        </p:nvSpPr>
        <p:spPr>
          <a:xfrm>
            <a:off x="4379976" y="1481328"/>
            <a:ext cx="3429000" cy="128016"/>
          </a:xfrm>
          <a:prstGeom prst="rect">
            <a:avLst/>
          </a:prstGeom>
          <a:solidFill>
            <a:srgbClr val="14543B"/>
          </a:solidFill>
          <a:ln w="12700">
            <a:solidFill>
              <a:srgbClr val="14543B"/>
            </a:solidFill>
            <a:prstDash val="solid"/>
          </a:ln>
        </p:spPr>
      </p:sp>
      <p:sp>
        <p:nvSpPr>
          <p:cNvPr id="20" name="Text 17"/>
          <p:cNvSpPr/>
          <p:nvPr/>
        </p:nvSpPr>
        <p:spPr>
          <a:xfrm>
            <a:off x="4562856" y="1783080"/>
            <a:ext cx="3017520" cy="329184"/>
          </a:xfrm>
          <a:prstGeom prst="rect">
            <a:avLst/>
          </a:prstGeom>
          <a:noFill/>
          <a:ln/>
        </p:spPr>
        <p:txBody>
          <a:bodyPr wrap="square" lIns="0" tIns="0" rIns="0" bIns="0" rtlCol="0" anchor="ctr"/>
          <a:lstStyle/>
          <a:p>
            <a:pPr indent="0" marL="0">
              <a:buNone/>
            </a:pPr>
            <a:r>
              <a:rPr lang="en-US" sz="1300" b="1" dirty="0">
                <a:solidFill>
                  <a:srgbClr val="14543B"/>
                </a:solidFill>
                <a:latin typeface="Roboto" pitchFamily="34" charset="0"/>
                <a:ea typeface="Roboto" pitchFamily="34" charset="-122"/>
                <a:cs typeface="Roboto" pitchFamily="34" charset="-120"/>
              </a:rPr>
              <a:t>Red River Delta</a:t>
            </a:r>
            <a:endParaRPr lang="en-US" sz="1300" dirty="0"/>
          </a:p>
        </p:txBody>
      </p:sp>
      <p:sp>
        <p:nvSpPr>
          <p:cNvPr id="21" name="Text 18"/>
          <p:cNvSpPr/>
          <p:nvPr/>
        </p:nvSpPr>
        <p:spPr>
          <a:xfrm>
            <a:off x="4562856" y="2286000"/>
            <a:ext cx="1325880"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267.2k</a:t>
            </a:r>
            <a:endParaRPr lang="en-US" sz="2400" dirty="0"/>
          </a:p>
        </p:txBody>
      </p:sp>
      <p:sp>
        <p:nvSpPr>
          <p:cNvPr id="22" name="Text 19"/>
          <p:cNvSpPr/>
          <p:nvPr/>
        </p:nvSpPr>
        <p:spPr>
          <a:xfrm>
            <a:off x="4562856" y="2743200"/>
            <a:ext cx="1325880"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active firms</a:t>
            </a:r>
            <a:endParaRPr lang="en-US" sz="800" dirty="0"/>
          </a:p>
        </p:txBody>
      </p:sp>
      <p:sp>
        <p:nvSpPr>
          <p:cNvPr id="23" name="Text 20"/>
          <p:cNvSpPr/>
          <p:nvPr/>
        </p:nvSpPr>
        <p:spPr>
          <a:xfrm>
            <a:off x="6144768" y="2286000"/>
            <a:ext cx="1298448"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6.3m</a:t>
            </a:r>
            <a:endParaRPr lang="en-US" sz="2400" dirty="0"/>
          </a:p>
        </p:txBody>
      </p:sp>
      <p:sp>
        <p:nvSpPr>
          <p:cNvPr id="24" name="Text 21"/>
          <p:cNvSpPr/>
          <p:nvPr/>
        </p:nvSpPr>
        <p:spPr>
          <a:xfrm>
            <a:off x="6144768" y="2743200"/>
            <a:ext cx="1298448"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enterprise jobs</a:t>
            </a:r>
            <a:endParaRPr lang="en-US" sz="800" dirty="0"/>
          </a:p>
        </p:txBody>
      </p:sp>
      <p:sp>
        <p:nvSpPr>
          <p:cNvPr id="25" name="Shape 22"/>
          <p:cNvSpPr/>
          <p:nvPr/>
        </p:nvSpPr>
        <p:spPr>
          <a:xfrm>
            <a:off x="4562856" y="3255264"/>
            <a:ext cx="1325880" cy="274320"/>
          </a:xfrm>
          <a:prstGeom prst="roundRect">
            <a:avLst>
              <a:gd name="adj" fmla="val 46667"/>
            </a:avLst>
          </a:prstGeom>
          <a:solidFill>
            <a:srgbClr val="DDE8DF"/>
          </a:solidFill>
          <a:ln w="12700">
            <a:solidFill>
              <a:srgbClr val="DDE8DF"/>
            </a:solidFill>
            <a:prstDash val="solid"/>
          </a:ln>
        </p:spPr>
      </p:sp>
      <p:sp>
        <p:nvSpPr>
          <p:cNvPr id="26" name="Text 23"/>
          <p:cNvSpPr/>
          <p:nvPr/>
        </p:nvSpPr>
        <p:spPr>
          <a:xfrm>
            <a:off x="4617720" y="3273552"/>
            <a:ext cx="1216152" cy="219456"/>
          </a:xfrm>
          <a:prstGeom prst="rect">
            <a:avLst/>
          </a:prstGeom>
          <a:noFill/>
          <a:ln/>
        </p:spPr>
        <p:txBody>
          <a:bodyPr wrap="square" lIns="0" tIns="0" rIns="0" bIns="0" rtlCol="0" anchor="ctr"/>
          <a:lstStyle/>
          <a:p>
            <a:pPr algn="ctr" indent="0" marL="0">
              <a:buNone/>
            </a:pPr>
            <a:r>
              <a:rPr lang="en-US" sz="750" b="1" dirty="0">
                <a:solidFill>
                  <a:srgbClr val="16894F"/>
                </a:solidFill>
                <a:latin typeface="Roboto" pitchFamily="34" charset="0"/>
                <a:ea typeface="Roboto" pitchFamily="34" charset="-122"/>
                <a:cs typeface="Roboto" pitchFamily="34" charset="-120"/>
              </a:rPr>
              <a:t>+3.6% YoY</a:t>
            </a:r>
            <a:endParaRPr lang="en-US" sz="750" dirty="0"/>
          </a:p>
        </p:txBody>
      </p:sp>
      <p:sp>
        <p:nvSpPr>
          <p:cNvPr id="27" name="Text 24"/>
          <p:cNvSpPr/>
          <p:nvPr/>
        </p:nvSpPr>
        <p:spPr>
          <a:xfrm>
            <a:off x="4562856" y="3767328"/>
            <a:ext cx="2971800" cy="594360"/>
          </a:xfrm>
          <a:prstGeom prst="rect">
            <a:avLst/>
          </a:prstGeom>
          <a:noFill/>
          <a:ln/>
        </p:spPr>
        <p:txBody>
          <a:bodyPr wrap="square" lIns="0" tIns="0" rIns="0" bIns="0" rtlCol="0" anchor="t"/>
          <a:lstStyle/>
          <a:p>
            <a:pPr indent="0" marL="0">
              <a:buNone/>
            </a:pPr>
            <a:r>
              <a:rPr lang="en-US" sz="900" dirty="0">
                <a:solidFill>
                  <a:srgbClr val="17211B"/>
                </a:solidFill>
                <a:latin typeface="Roboto" pitchFamily="34" charset="0"/>
                <a:ea typeface="Roboto" pitchFamily="34" charset="-122"/>
                <a:cs typeface="Roboto" pitchFamily="34" charset="-120"/>
              </a:rPr>
              <a:t>Capital and employment growth are pulling north</a:t>
            </a:r>
            <a:endParaRPr lang="en-US" sz="900" dirty="0"/>
          </a:p>
        </p:txBody>
      </p:sp>
      <p:sp>
        <p:nvSpPr>
          <p:cNvPr id="28" name="Shape 25"/>
          <p:cNvSpPr/>
          <p:nvPr/>
        </p:nvSpPr>
        <p:spPr>
          <a:xfrm>
            <a:off x="8193024" y="1481328"/>
            <a:ext cx="3429000" cy="3346704"/>
          </a:xfrm>
          <a:prstGeom prst="roundRect">
            <a:avLst>
              <a:gd name="adj" fmla="val 1639"/>
            </a:avLst>
          </a:prstGeom>
          <a:solidFill>
            <a:srgbClr val="F2EBD6"/>
          </a:solidFill>
          <a:ln w="12700">
            <a:solidFill>
              <a:srgbClr val="C6A447"/>
            </a:solidFill>
            <a:prstDash val="solid"/>
          </a:ln>
        </p:spPr>
      </p:sp>
      <p:sp>
        <p:nvSpPr>
          <p:cNvPr id="29" name="Shape 26"/>
          <p:cNvSpPr/>
          <p:nvPr/>
        </p:nvSpPr>
        <p:spPr>
          <a:xfrm>
            <a:off x="8193024" y="1481328"/>
            <a:ext cx="3429000" cy="128016"/>
          </a:xfrm>
          <a:prstGeom prst="rect">
            <a:avLst/>
          </a:prstGeom>
          <a:solidFill>
            <a:srgbClr val="C6A447"/>
          </a:solidFill>
          <a:ln w="12700">
            <a:solidFill>
              <a:srgbClr val="C6A447"/>
            </a:solidFill>
            <a:prstDash val="solid"/>
          </a:ln>
        </p:spPr>
      </p:sp>
      <p:sp>
        <p:nvSpPr>
          <p:cNvPr id="30" name="Text 27"/>
          <p:cNvSpPr/>
          <p:nvPr/>
        </p:nvSpPr>
        <p:spPr>
          <a:xfrm>
            <a:off x="8375904" y="1783080"/>
            <a:ext cx="3017520" cy="329184"/>
          </a:xfrm>
          <a:prstGeom prst="rect">
            <a:avLst/>
          </a:prstGeom>
          <a:noFill/>
          <a:ln/>
        </p:spPr>
        <p:txBody>
          <a:bodyPr wrap="square" lIns="0" tIns="0" rIns="0" bIns="0" rtlCol="0" anchor="ctr"/>
          <a:lstStyle/>
          <a:p>
            <a:pPr indent="0" marL="0">
              <a:buNone/>
            </a:pPr>
            <a:r>
              <a:rPr lang="en-US" sz="1300" b="1" dirty="0">
                <a:solidFill>
                  <a:srgbClr val="C6A447"/>
                </a:solidFill>
                <a:latin typeface="Roboto" pitchFamily="34" charset="0"/>
                <a:ea typeface="Roboto" pitchFamily="34" charset="-122"/>
                <a:cs typeface="Roboto" pitchFamily="34" charset="-120"/>
              </a:rPr>
              <a:t>Northern midlands</a:t>
            </a:r>
            <a:endParaRPr lang="en-US" sz="1300" dirty="0"/>
          </a:p>
        </p:txBody>
      </p:sp>
      <p:sp>
        <p:nvSpPr>
          <p:cNvPr id="31" name="Text 28"/>
          <p:cNvSpPr/>
          <p:nvPr/>
        </p:nvSpPr>
        <p:spPr>
          <a:xfrm>
            <a:off x="8375904" y="2286000"/>
            <a:ext cx="1325880"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41.9k</a:t>
            </a:r>
            <a:endParaRPr lang="en-US" sz="2400" dirty="0"/>
          </a:p>
        </p:txBody>
      </p:sp>
      <p:sp>
        <p:nvSpPr>
          <p:cNvPr id="32" name="Text 29"/>
          <p:cNvSpPr/>
          <p:nvPr/>
        </p:nvSpPr>
        <p:spPr>
          <a:xfrm>
            <a:off x="8375904" y="2743200"/>
            <a:ext cx="1325880"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active firms</a:t>
            </a:r>
            <a:endParaRPr lang="en-US" sz="800" dirty="0"/>
          </a:p>
        </p:txBody>
      </p:sp>
      <p:sp>
        <p:nvSpPr>
          <p:cNvPr id="33" name="Text 30"/>
          <p:cNvSpPr/>
          <p:nvPr/>
        </p:nvSpPr>
        <p:spPr>
          <a:xfrm>
            <a:off x="9957816" y="2286000"/>
            <a:ext cx="1298448" cy="384048"/>
          </a:xfrm>
          <a:prstGeom prst="rect">
            <a:avLst/>
          </a:prstGeom>
          <a:noFill/>
          <a:ln/>
        </p:spPr>
        <p:txBody>
          <a:bodyPr wrap="square" lIns="0" tIns="0" rIns="0" bIns="0" rtlCol="0" anchor="ctr"/>
          <a:lstStyle/>
          <a:p>
            <a:pPr indent="0" marL="0">
              <a:buNone/>
            </a:pPr>
            <a:r>
              <a:rPr lang="en-US" sz="2400" b="1" dirty="0">
                <a:solidFill>
                  <a:srgbClr val="17211B"/>
                </a:solidFill>
                <a:latin typeface="Roboto" pitchFamily="34" charset="0"/>
                <a:ea typeface="Roboto" pitchFamily="34" charset="-122"/>
                <a:cs typeface="Roboto" pitchFamily="34" charset="-120"/>
              </a:rPr>
              <a:t>n/a</a:t>
            </a:r>
            <a:endParaRPr lang="en-US" sz="2400" dirty="0"/>
          </a:p>
        </p:txBody>
      </p:sp>
      <p:sp>
        <p:nvSpPr>
          <p:cNvPr id="34" name="Text 31"/>
          <p:cNvSpPr/>
          <p:nvPr/>
        </p:nvSpPr>
        <p:spPr>
          <a:xfrm>
            <a:off x="9957816" y="2743200"/>
            <a:ext cx="1298448" cy="182880"/>
          </a:xfrm>
          <a:prstGeom prst="rect">
            <a:avLst/>
          </a:prstGeom>
          <a:noFill/>
          <a:ln/>
        </p:spPr>
        <p:txBody>
          <a:bodyPr wrap="square" lIns="0" tIns="0" rIns="0" bIns="0" rtlCol="0" anchor="ctr"/>
          <a:lstStyle/>
          <a:p>
            <a:pPr indent="0" marL="0">
              <a:buNone/>
            </a:pPr>
            <a:r>
              <a:rPr lang="en-US" sz="800" dirty="0">
                <a:solidFill>
                  <a:srgbClr val="66746B"/>
                </a:solidFill>
                <a:latin typeface="Roboto" pitchFamily="34" charset="0"/>
                <a:ea typeface="Roboto" pitchFamily="34" charset="-122"/>
                <a:cs typeface="Roboto" pitchFamily="34" charset="-120"/>
              </a:rPr>
              <a:t>enterprise jobs</a:t>
            </a:r>
            <a:endParaRPr lang="en-US" sz="800" dirty="0"/>
          </a:p>
        </p:txBody>
      </p:sp>
      <p:sp>
        <p:nvSpPr>
          <p:cNvPr id="35" name="Shape 32"/>
          <p:cNvSpPr/>
          <p:nvPr/>
        </p:nvSpPr>
        <p:spPr>
          <a:xfrm>
            <a:off x="8375904" y="3255264"/>
            <a:ext cx="1325880" cy="274320"/>
          </a:xfrm>
          <a:prstGeom prst="roundRect">
            <a:avLst>
              <a:gd name="adj" fmla="val 46667"/>
            </a:avLst>
          </a:prstGeom>
          <a:solidFill>
            <a:srgbClr val="DDE8DF"/>
          </a:solidFill>
          <a:ln w="12700">
            <a:solidFill>
              <a:srgbClr val="DDE8DF"/>
            </a:solidFill>
            <a:prstDash val="solid"/>
          </a:ln>
        </p:spPr>
      </p:sp>
      <p:sp>
        <p:nvSpPr>
          <p:cNvPr id="36" name="Text 33"/>
          <p:cNvSpPr/>
          <p:nvPr/>
        </p:nvSpPr>
        <p:spPr>
          <a:xfrm>
            <a:off x="8430768" y="3273552"/>
            <a:ext cx="1216152" cy="219456"/>
          </a:xfrm>
          <a:prstGeom prst="rect">
            <a:avLst/>
          </a:prstGeom>
          <a:noFill/>
          <a:ln/>
        </p:spPr>
        <p:txBody>
          <a:bodyPr wrap="square" lIns="0" tIns="0" rIns="0" bIns="0" rtlCol="0" anchor="ctr"/>
          <a:lstStyle/>
          <a:p>
            <a:pPr algn="ctr" indent="0" marL="0">
              <a:buNone/>
            </a:pPr>
            <a:r>
              <a:rPr lang="en-US" sz="750" b="1" dirty="0">
                <a:solidFill>
                  <a:srgbClr val="16894F"/>
                </a:solidFill>
                <a:latin typeface="Roboto" pitchFamily="34" charset="0"/>
                <a:ea typeface="Roboto" pitchFamily="34" charset="-122"/>
                <a:cs typeface="Roboto" pitchFamily="34" charset="-120"/>
              </a:rPr>
              <a:t>+8.7% YoY</a:t>
            </a:r>
            <a:endParaRPr lang="en-US" sz="750" dirty="0"/>
          </a:p>
        </p:txBody>
      </p:sp>
      <p:sp>
        <p:nvSpPr>
          <p:cNvPr id="37" name="Text 34"/>
          <p:cNvSpPr/>
          <p:nvPr/>
        </p:nvSpPr>
        <p:spPr>
          <a:xfrm>
            <a:off x="8375904" y="3767328"/>
            <a:ext cx="2971800" cy="594360"/>
          </a:xfrm>
          <a:prstGeom prst="rect">
            <a:avLst/>
          </a:prstGeom>
          <a:noFill/>
          <a:ln/>
        </p:spPr>
        <p:txBody>
          <a:bodyPr wrap="square" lIns="0" tIns="0" rIns="0" bIns="0" rtlCol="0" anchor="t"/>
          <a:lstStyle/>
          <a:p>
            <a:pPr indent="0" marL="0">
              <a:buNone/>
            </a:pPr>
            <a:r>
              <a:rPr lang="en-US" sz="900" dirty="0">
                <a:solidFill>
                  <a:srgbClr val="17211B"/>
                </a:solidFill>
                <a:latin typeface="Roboto" pitchFamily="34" charset="0"/>
                <a:ea typeface="Roboto" pitchFamily="34" charset="-122"/>
                <a:cs typeface="Roboto" pitchFamily="34" charset="-120"/>
              </a:rPr>
              <a:t>Fastest enterprise-count growth; +44.4% vs 2020</a:t>
            </a:r>
            <a:endParaRPr lang="en-US" sz="900" dirty="0"/>
          </a:p>
        </p:txBody>
      </p:sp>
      <p:sp>
        <p:nvSpPr>
          <p:cNvPr id="38" name="Shape 35"/>
          <p:cNvSpPr/>
          <p:nvPr/>
        </p:nvSpPr>
        <p:spPr>
          <a:xfrm>
            <a:off x="3639312" y="5074920"/>
            <a:ext cx="4892040" cy="384048"/>
          </a:xfrm>
          <a:prstGeom prst="chevron">
            <a:avLst/>
          </a:prstGeom>
          <a:solidFill>
            <a:srgbClr val="DDE8DF"/>
          </a:solidFill>
          <a:ln w="12700">
            <a:solidFill>
              <a:srgbClr val="DDE8DF"/>
            </a:solidFill>
            <a:prstDash val="solid"/>
          </a:ln>
        </p:spPr>
      </p:sp>
      <p:sp>
        <p:nvSpPr>
          <p:cNvPr id="39" name="Text 36"/>
          <p:cNvSpPr/>
          <p:nvPr/>
        </p:nvSpPr>
        <p:spPr>
          <a:xfrm>
            <a:off x="3886200" y="5111496"/>
            <a:ext cx="4297680" cy="256032"/>
          </a:xfrm>
          <a:prstGeom prst="rect">
            <a:avLst/>
          </a:prstGeom>
          <a:noFill/>
          <a:ln/>
        </p:spPr>
        <p:txBody>
          <a:bodyPr wrap="square" lIns="0" tIns="0" rIns="0" bIns="0" rtlCol="0" anchor="ctr"/>
          <a:lstStyle/>
          <a:p>
            <a:pPr algn="ctr" indent="0" marL="0">
              <a:buNone/>
            </a:pPr>
            <a:r>
              <a:rPr lang="en-US" sz="920" b="1" dirty="0">
                <a:solidFill>
                  <a:srgbClr val="0B3D2A"/>
                </a:solidFill>
                <a:latin typeface="Roboto" pitchFamily="34" charset="0"/>
                <a:ea typeface="Roboto" pitchFamily="34" charset="-122"/>
                <a:cs typeface="Roboto" pitchFamily="34" charset="-120"/>
              </a:rPr>
              <a:t>Scale remains concentrated → marginal growth is diffusing northward</a:t>
            </a:r>
            <a:endParaRPr lang="en-US" sz="920" dirty="0"/>
          </a:p>
        </p:txBody>
      </p:sp>
      <p:sp>
        <p:nvSpPr>
          <p:cNvPr id="40" name="Shape 37"/>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41" name="Text 38"/>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Market implication: enterprise services need hub depth in the Southeast/Red River Delta and lower-cost distribution models for faster-growing frontier regions.</a:t>
            </a:r>
            <a:endParaRPr lang="en-US" sz="9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POLICY TRANSMISSION</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Formalization creates value only when lower entry friction is paired with capabilities that improve survival and scale</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https://xaydungchinhsach.chinhphu.vn/toan-van-nghi-quyet-so-68-nq-tw-ve-phat-trien-kinh-te-tu-nhan-119250505101309949.htm; NSO preliminary census; Sa.Partners interpretation</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Shape 5"/>
          <p:cNvSpPr/>
          <p:nvPr/>
        </p:nvSpPr>
        <p:spPr>
          <a:xfrm>
            <a:off x="502920" y="1572768"/>
            <a:ext cx="1993392" cy="3200400"/>
          </a:xfrm>
          <a:prstGeom prst="roundRect">
            <a:avLst>
              <a:gd name="adj" fmla="val 2752"/>
            </a:avLst>
          </a:prstGeom>
          <a:solidFill>
            <a:srgbClr val="DDE8DF"/>
          </a:solidFill>
          <a:ln w="12700">
            <a:solidFill>
              <a:srgbClr val="D8DED8"/>
            </a:solidFill>
            <a:prstDash val="solid"/>
          </a:ln>
        </p:spPr>
      </p:sp>
      <p:sp>
        <p:nvSpPr>
          <p:cNvPr id="9" name="Text 6"/>
          <p:cNvSpPr/>
          <p:nvPr/>
        </p:nvSpPr>
        <p:spPr>
          <a:xfrm>
            <a:off x="667512" y="1783080"/>
            <a:ext cx="457200" cy="457200"/>
          </a:xfrm>
          <a:prstGeom prst="rect">
            <a:avLst/>
          </a:prstGeom>
          <a:noFill/>
          <a:ln/>
        </p:spPr>
        <p:txBody>
          <a:bodyPr wrap="square" lIns="0" tIns="0" rIns="0" bIns="0" rtlCol="0" anchor="ctr"/>
          <a:lstStyle/>
          <a:p>
            <a:pPr indent="0" marL="0">
              <a:buNone/>
            </a:pPr>
            <a:r>
              <a:rPr lang="en-US" sz="2300" b="1" dirty="0">
                <a:solidFill>
                  <a:srgbClr val="0B3D2A"/>
                </a:solidFill>
                <a:latin typeface="Roboto" pitchFamily="34" charset="0"/>
                <a:ea typeface="Roboto" pitchFamily="34" charset="-122"/>
                <a:cs typeface="Roboto" pitchFamily="34" charset="-120"/>
              </a:rPr>
              <a:t>1</a:t>
            </a:r>
            <a:endParaRPr lang="en-US" sz="2300" dirty="0"/>
          </a:p>
        </p:txBody>
      </p:sp>
      <p:sp>
        <p:nvSpPr>
          <p:cNvPr id="10" name="Text 7"/>
          <p:cNvSpPr/>
          <p:nvPr/>
        </p:nvSpPr>
        <p:spPr>
          <a:xfrm>
            <a:off x="667512" y="2304288"/>
            <a:ext cx="1627632" cy="384048"/>
          </a:xfrm>
          <a:prstGeom prst="rect">
            <a:avLst/>
          </a:prstGeom>
          <a:noFill/>
          <a:ln/>
        </p:spPr>
        <p:txBody>
          <a:bodyPr wrap="square" lIns="0" tIns="0" rIns="0" bIns="0" rtlCol="0" anchor="ctr"/>
          <a:lstStyle/>
          <a:p>
            <a:pPr indent="0" marL="0">
              <a:buNone/>
            </a:pPr>
            <a:r>
              <a:rPr lang="en-US" sz="1100" b="1" dirty="0">
                <a:solidFill>
                  <a:srgbClr val="17211B"/>
                </a:solidFill>
                <a:latin typeface="Roboto" pitchFamily="34" charset="0"/>
                <a:ea typeface="Roboto" pitchFamily="34" charset="-122"/>
                <a:cs typeface="Roboto" pitchFamily="34" charset="-120"/>
              </a:rPr>
              <a:t>Policy move</a:t>
            </a:r>
            <a:endParaRPr lang="en-US" sz="1100" dirty="0"/>
          </a:p>
        </p:txBody>
      </p:sp>
      <p:sp>
        <p:nvSpPr>
          <p:cNvPr id="11" name="Text 8"/>
          <p:cNvSpPr/>
          <p:nvPr/>
        </p:nvSpPr>
        <p:spPr>
          <a:xfrm>
            <a:off x="667512" y="2852928"/>
            <a:ext cx="1627632" cy="1261872"/>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Reduce compliance friction; tax relief for converted household businesses</a:t>
            </a:r>
            <a:endParaRPr lang="en-US" sz="920" dirty="0"/>
          </a:p>
        </p:txBody>
      </p:sp>
      <p:sp>
        <p:nvSpPr>
          <p:cNvPr id="12" name="Shape 9"/>
          <p:cNvSpPr/>
          <p:nvPr/>
        </p:nvSpPr>
        <p:spPr>
          <a:xfrm>
            <a:off x="2514600" y="2834640"/>
            <a:ext cx="256032" cy="530352"/>
          </a:xfrm>
          <a:prstGeom prst="chevron">
            <a:avLst/>
          </a:prstGeom>
          <a:solidFill>
            <a:srgbClr val="C6A447"/>
          </a:solidFill>
          <a:ln w="12700">
            <a:solidFill>
              <a:srgbClr val="C6A447"/>
            </a:solidFill>
            <a:prstDash val="solid"/>
          </a:ln>
        </p:spPr>
      </p:sp>
      <p:sp>
        <p:nvSpPr>
          <p:cNvPr id="13" name="Shape 10"/>
          <p:cNvSpPr/>
          <p:nvPr/>
        </p:nvSpPr>
        <p:spPr>
          <a:xfrm>
            <a:off x="2798064" y="1572768"/>
            <a:ext cx="1993392" cy="3200400"/>
          </a:xfrm>
          <a:prstGeom prst="roundRect">
            <a:avLst>
              <a:gd name="adj" fmla="val 2752"/>
            </a:avLst>
          </a:prstGeom>
          <a:solidFill>
            <a:srgbClr val="F2EBD6"/>
          </a:solidFill>
          <a:ln w="12700">
            <a:solidFill>
              <a:srgbClr val="D8DED8"/>
            </a:solidFill>
            <a:prstDash val="solid"/>
          </a:ln>
        </p:spPr>
      </p:sp>
      <p:sp>
        <p:nvSpPr>
          <p:cNvPr id="14" name="Text 11"/>
          <p:cNvSpPr/>
          <p:nvPr/>
        </p:nvSpPr>
        <p:spPr>
          <a:xfrm>
            <a:off x="2962656" y="1783080"/>
            <a:ext cx="457200" cy="457200"/>
          </a:xfrm>
          <a:prstGeom prst="rect">
            <a:avLst/>
          </a:prstGeom>
          <a:noFill/>
          <a:ln/>
        </p:spPr>
        <p:txBody>
          <a:bodyPr wrap="square" lIns="0" tIns="0" rIns="0" bIns="0" rtlCol="0" anchor="ctr"/>
          <a:lstStyle/>
          <a:p>
            <a:pPr indent="0" marL="0">
              <a:buNone/>
            </a:pPr>
            <a:r>
              <a:rPr lang="en-US" sz="2300" b="1" dirty="0">
                <a:solidFill>
                  <a:srgbClr val="0B3D2A"/>
                </a:solidFill>
                <a:latin typeface="Roboto" pitchFamily="34" charset="0"/>
                <a:ea typeface="Roboto" pitchFamily="34" charset="-122"/>
                <a:cs typeface="Roboto" pitchFamily="34" charset="-120"/>
              </a:rPr>
              <a:t>2</a:t>
            </a:r>
            <a:endParaRPr lang="en-US" sz="2300" dirty="0"/>
          </a:p>
        </p:txBody>
      </p:sp>
      <p:sp>
        <p:nvSpPr>
          <p:cNvPr id="15" name="Text 12"/>
          <p:cNvSpPr/>
          <p:nvPr/>
        </p:nvSpPr>
        <p:spPr>
          <a:xfrm>
            <a:off x="2962656" y="2304288"/>
            <a:ext cx="1627632" cy="384048"/>
          </a:xfrm>
          <a:prstGeom prst="rect">
            <a:avLst/>
          </a:prstGeom>
          <a:noFill/>
          <a:ln/>
        </p:spPr>
        <p:txBody>
          <a:bodyPr wrap="square" lIns="0" tIns="0" rIns="0" bIns="0" rtlCol="0" anchor="ctr"/>
          <a:lstStyle/>
          <a:p>
            <a:pPr indent="0" marL="0">
              <a:buNone/>
            </a:pPr>
            <a:r>
              <a:rPr lang="en-US" sz="1100" b="1" dirty="0">
                <a:solidFill>
                  <a:srgbClr val="17211B"/>
                </a:solidFill>
                <a:latin typeface="Roboto" pitchFamily="34" charset="0"/>
                <a:ea typeface="Roboto" pitchFamily="34" charset="-122"/>
                <a:cs typeface="Roboto" pitchFamily="34" charset="-120"/>
              </a:rPr>
              <a:t>Actor response</a:t>
            </a:r>
            <a:endParaRPr lang="en-US" sz="1100" dirty="0"/>
          </a:p>
        </p:txBody>
      </p:sp>
      <p:sp>
        <p:nvSpPr>
          <p:cNvPr id="16" name="Text 13"/>
          <p:cNvSpPr/>
          <p:nvPr/>
        </p:nvSpPr>
        <p:spPr>
          <a:xfrm>
            <a:off x="2962656" y="2852928"/>
            <a:ext cx="1627632" cy="1261872"/>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5.19m individual establishments reassess the enterprise form</a:t>
            </a:r>
            <a:endParaRPr lang="en-US" sz="920" dirty="0"/>
          </a:p>
        </p:txBody>
      </p:sp>
      <p:sp>
        <p:nvSpPr>
          <p:cNvPr id="17" name="Shape 14"/>
          <p:cNvSpPr/>
          <p:nvPr/>
        </p:nvSpPr>
        <p:spPr>
          <a:xfrm>
            <a:off x="4809744" y="2834640"/>
            <a:ext cx="256032" cy="530352"/>
          </a:xfrm>
          <a:prstGeom prst="chevron">
            <a:avLst/>
          </a:prstGeom>
          <a:solidFill>
            <a:srgbClr val="C6A447"/>
          </a:solidFill>
          <a:ln w="12700">
            <a:solidFill>
              <a:srgbClr val="C6A447"/>
            </a:solidFill>
            <a:prstDash val="solid"/>
          </a:ln>
        </p:spPr>
      </p:sp>
      <p:sp>
        <p:nvSpPr>
          <p:cNvPr id="18" name="Shape 15"/>
          <p:cNvSpPr/>
          <p:nvPr/>
        </p:nvSpPr>
        <p:spPr>
          <a:xfrm>
            <a:off x="5093208" y="1572768"/>
            <a:ext cx="1993392" cy="3200400"/>
          </a:xfrm>
          <a:prstGeom prst="roundRect">
            <a:avLst>
              <a:gd name="adj" fmla="val 2752"/>
            </a:avLst>
          </a:prstGeom>
          <a:solidFill>
            <a:srgbClr val="DDE8DF"/>
          </a:solidFill>
          <a:ln w="12700">
            <a:solidFill>
              <a:srgbClr val="D8DED8"/>
            </a:solidFill>
            <a:prstDash val="solid"/>
          </a:ln>
        </p:spPr>
      </p:sp>
      <p:sp>
        <p:nvSpPr>
          <p:cNvPr id="19" name="Text 16"/>
          <p:cNvSpPr/>
          <p:nvPr/>
        </p:nvSpPr>
        <p:spPr>
          <a:xfrm>
            <a:off x="5257800" y="1783080"/>
            <a:ext cx="457200" cy="457200"/>
          </a:xfrm>
          <a:prstGeom prst="rect">
            <a:avLst/>
          </a:prstGeom>
          <a:noFill/>
          <a:ln/>
        </p:spPr>
        <p:txBody>
          <a:bodyPr wrap="square" lIns="0" tIns="0" rIns="0" bIns="0" rtlCol="0" anchor="ctr"/>
          <a:lstStyle/>
          <a:p>
            <a:pPr indent="0" marL="0">
              <a:buNone/>
            </a:pPr>
            <a:r>
              <a:rPr lang="en-US" sz="2300" b="1" dirty="0">
                <a:solidFill>
                  <a:srgbClr val="0B3D2A"/>
                </a:solidFill>
                <a:latin typeface="Roboto" pitchFamily="34" charset="0"/>
                <a:ea typeface="Roboto" pitchFamily="34" charset="-122"/>
                <a:cs typeface="Roboto" pitchFamily="34" charset="-120"/>
              </a:rPr>
              <a:t>3</a:t>
            </a:r>
            <a:endParaRPr lang="en-US" sz="2300" dirty="0"/>
          </a:p>
        </p:txBody>
      </p:sp>
      <p:sp>
        <p:nvSpPr>
          <p:cNvPr id="20" name="Text 17"/>
          <p:cNvSpPr/>
          <p:nvPr/>
        </p:nvSpPr>
        <p:spPr>
          <a:xfrm>
            <a:off x="5257800" y="2304288"/>
            <a:ext cx="1627632" cy="384048"/>
          </a:xfrm>
          <a:prstGeom prst="rect">
            <a:avLst/>
          </a:prstGeom>
          <a:noFill/>
          <a:ln/>
        </p:spPr>
        <p:txBody>
          <a:bodyPr wrap="square" lIns="0" tIns="0" rIns="0" bIns="0" rtlCol="0" anchor="ctr"/>
          <a:lstStyle/>
          <a:p>
            <a:pPr indent="0" marL="0">
              <a:buNone/>
            </a:pPr>
            <a:r>
              <a:rPr lang="en-US" sz="1100" b="1" dirty="0">
                <a:solidFill>
                  <a:srgbClr val="17211B"/>
                </a:solidFill>
                <a:latin typeface="Roboto" pitchFamily="34" charset="0"/>
                <a:ea typeface="Roboto" pitchFamily="34" charset="-122"/>
                <a:cs typeface="Roboto" pitchFamily="34" charset="-120"/>
              </a:rPr>
              <a:t>Behavior shift</a:t>
            </a:r>
            <a:endParaRPr lang="en-US" sz="1100" dirty="0"/>
          </a:p>
        </p:txBody>
      </p:sp>
      <p:sp>
        <p:nvSpPr>
          <p:cNvPr id="21" name="Text 18"/>
          <p:cNvSpPr/>
          <p:nvPr/>
        </p:nvSpPr>
        <p:spPr>
          <a:xfrm>
            <a:off x="5257800" y="2852928"/>
            <a:ext cx="1627632" cy="1261872"/>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Adopt invoices, accounting, payroll, bank credit and digital workflows</a:t>
            </a:r>
            <a:endParaRPr lang="en-US" sz="920" dirty="0"/>
          </a:p>
        </p:txBody>
      </p:sp>
      <p:sp>
        <p:nvSpPr>
          <p:cNvPr id="22" name="Shape 19"/>
          <p:cNvSpPr/>
          <p:nvPr/>
        </p:nvSpPr>
        <p:spPr>
          <a:xfrm>
            <a:off x="7104888" y="2834640"/>
            <a:ext cx="256032" cy="530352"/>
          </a:xfrm>
          <a:prstGeom prst="chevron">
            <a:avLst/>
          </a:prstGeom>
          <a:solidFill>
            <a:srgbClr val="C6A447"/>
          </a:solidFill>
          <a:ln w="12700">
            <a:solidFill>
              <a:srgbClr val="C6A447"/>
            </a:solidFill>
            <a:prstDash val="solid"/>
          </a:ln>
        </p:spPr>
      </p:sp>
      <p:sp>
        <p:nvSpPr>
          <p:cNvPr id="23" name="Shape 20"/>
          <p:cNvSpPr/>
          <p:nvPr/>
        </p:nvSpPr>
        <p:spPr>
          <a:xfrm>
            <a:off x="7388352" y="1572768"/>
            <a:ext cx="1993392" cy="3200400"/>
          </a:xfrm>
          <a:prstGeom prst="roundRect">
            <a:avLst>
              <a:gd name="adj" fmla="val 2752"/>
            </a:avLst>
          </a:prstGeom>
          <a:solidFill>
            <a:srgbClr val="F2EBD6"/>
          </a:solidFill>
          <a:ln w="12700">
            <a:solidFill>
              <a:srgbClr val="D8DED8"/>
            </a:solidFill>
            <a:prstDash val="solid"/>
          </a:ln>
        </p:spPr>
      </p:sp>
      <p:sp>
        <p:nvSpPr>
          <p:cNvPr id="24" name="Text 21"/>
          <p:cNvSpPr/>
          <p:nvPr/>
        </p:nvSpPr>
        <p:spPr>
          <a:xfrm>
            <a:off x="7552944" y="1783080"/>
            <a:ext cx="457200" cy="457200"/>
          </a:xfrm>
          <a:prstGeom prst="rect">
            <a:avLst/>
          </a:prstGeom>
          <a:noFill/>
          <a:ln/>
        </p:spPr>
        <p:txBody>
          <a:bodyPr wrap="square" lIns="0" tIns="0" rIns="0" bIns="0" rtlCol="0" anchor="ctr"/>
          <a:lstStyle/>
          <a:p>
            <a:pPr indent="0" marL="0">
              <a:buNone/>
            </a:pPr>
            <a:r>
              <a:rPr lang="en-US" sz="2300" b="1" dirty="0">
                <a:solidFill>
                  <a:srgbClr val="0B3D2A"/>
                </a:solidFill>
                <a:latin typeface="Roboto" pitchFamily="34" charset="0"/>
                <a:ea typeface="Roboto" pitchFamily="34" charset="-122"/>
                <a:cs typeface="Roboto" pitchFamily="34" charset="-120"/>
              </a:rPr>
              <a:t>4</a:t>
            </a:r>
            <a:endParaRPr lang="en-US" sz="2300" dirty="0"/>
          </a:p>
        </p:txBody>
      </p:sp>
      <p:sp>
        <p:nvSpPr>
          <p:cNvPr id="25" name="Text 22"/>
          <p:cNvSpPr/>
          <p:nvPr/>
        </p:nvSpPr>
        <p:spPr>
          <a:xfrm>
            <a:off x="7552944" y="2304288"/>
            <a:ext cx="1627632" cy="384048"/>
          </a:xfrm>
          <a:prstGeom prst="rect">
            <a:avLst/>
          </a:prstGeom>
          <a:noFill/>
          <a:ln/>
        </p:spPr>
        <p:txBody>
          <a:bodyPr wrap="square" lIns="0" tIns="0" rIns="0" bIns="0" rtlCol="0" anchor="ctr"/>
          <a:lstStyle/>
          <a:p>
            <a:pPr indent="0" marL="0">
              <a:buNone/>
            </a:pPr>
            <a:r>
              <a:rPr lang="en-US" sz="1100" b="1" dirty="0">
                <a:solidFill>
                  <a:srgbClr val="17211B"/>
                </a:solidFill>
                <a:latin typeface="Roboto" pitchFamily="34" charset="0"/>
                <a:ea typeface="Roboto" pitchFamily="34" charset="-122"/>
                <a:cs typeface="Roboto" pitchFamily="34" charset="-120"/>
              </a:rPr>
              <a:t>Economic effect</a:t>
            </a:r>
            <a:endParaRPr lang="en-US" sz="1100" dirty="0"/>
          </a:p>
        </p:txBody>
      </p:sp>
      <p:sp>
        <p:nvSpPr>
          <p:cNvPr id="26" name="Text 23"/>
          <p:cNvSpPr/>
          <p:nvPr/>
        </p:nvSpPr>
        <p:spPr>
          <a:xfrm>
            <a:off x="7552944" y="2852928"/>
            <a:ext cx="1627632" cy="1261872"/>
          </a:xfrm>
          <a:prstGeom prst="rect">
            <a:avLst/>
          </a:prstGeom>
          <a:noFill/>
          <a:ln/>
        </p:spPr>
        <p:txBody>
          <a:bodyPr wrap="square" lIns="0" tIns="0" rIns="0" bIns="0" rtlCol="0" anchor="t"/>
          <a:lstStyle/>
          <a:p>
            <a:pPr indent="0" marL="0">
              <a:buNone/>
            </a:pPr>
            <a:r>
              <a:rPr lang="en-US" sz="920" dirty="0">
                <a:solidFill>
                  <a:srgbClr val="17211B"/>
                </a:solidFill>
                <a:latin typeface="Roboto" pitchFamily="34" charset="0"/>
                <a:ea typeface="Roboto" pitchFamily="34" charset="-122"/>
                <a:cs typeface="Roboto" pitchFamily="34" charset="-120"/>
              </a:rPr>
              <a:t>Better data and governance expand finance access and customer reach</a:t>
            </a:r>
            <a:endParaRPr lang="en-US" sz="920" dirty="0"/>
          </a:p>
        </p:txBody>
      </p:sp>
      <p:sp>
        <p:nvSpPr>
          <p:cNvPr id="27" name="Shape 24"/>
          <p:cNvSpPr/>
          <p:nvPr/>
        </p:nvSpPr>
        <p:spPr>
          <a:xfrm>
            <a:off x="9400032" y="2834640"/>
            <a:ext cx="256032" cy="530352"/>
          </a:xfrm>
          <a:prstGeom prst="chevron">
            <a:avLst/>
          </a:prstGeom>
          <a:solidFill>
            <a:srgbClr val="C6A447"/>
          </a:solidFill>
          <a:ln w="12700">
            <a:solidFill>
              <a:srgbClr val="C6A447"/>
            </a:solidFill>
            <a:prstDash val="solid"/>
          </a:ln>
        </p:spPr>
      </p:sp>
      <p:sp>
        <p:nvSpPr>
          <p:cNvPr id="28" name="Shape 25"/>
          <p:cNvSpPr/>
          <p:nvPr/>
        </p:nvSpPr>
        <p:spPr>
          <a:xfrm>
            <a:off x="9683496" y="1572768"/>
            <a:ext cx="1993392" cy="3200400"/>
          </a:xfrm>
          <a:prstGeom prst="roundRect">
            <a:avLst>
              <a:gd name="adj" fmla="val 2752"/>
            </a:avLst>
          </a:prstGeom>
          <a:solidFill>
            <a:srgbClr val="0B3D2A"/>
          </a:solidFill>
          <a:ln w="12700">
            <a:solidFill>
              <a:srgbClr val="0B3D2A"/>
            </a:solidFill>
            <a:prstDash val="solid"/>
          </a:ln>
        </p:spPr>
      </p:sp>
      <p:sp>
        <p:nvSpPr>
          <p:cNvPr id="29" name="Text 26"/>
          <p:cNvSpPr/>
          <p:nvPr/>
        </p:nvSpPr>
        <p:spPr>
          <a:xfrm>
            <a:off x="9848088" y="1783080"/>
            <a:ext cx="457200" cy="457200"/>
          </a:xfrm>
          <a:prstGeom prst="rect">
            <a:avLst/>
          </a:prstGeom>
          <a:noFill/>
          <a:ln/>
        </p:spPr>
        <p:txBody>
          <a:bodyPr wrap="square" lIns="0" tIns="0" rIns="0" bIns="0" rtlCol="0" anchor="ctr"/>
          <a:lstStyle/>
          <a:p>
            <a:pPr indent="0" marL="0">
              <a:buNone/>
            </a:pPr>
            <a:r>
              <a:rPr lang="en-US" sz="2300" b="1" dirty="0">
                <a:solidFill>
                  <a:srgbClr val="C6A447"/>
                </a:solidFill>
                <a:latin typeface="Roboto" pitchFamily="34" charset="0"/>
                <a:ea typeface="Roboto" pitchFamily="34" charset="-122"/>
                <a:cs typeface="Roboto" pitchFamily="34" charset="-120"/>
              </a:rPr>
              <a:t>5</a:t>
            </a:r>
            <a:endParaRPr lang="en-US" sz="2300" dirty="0"/>
          </a:p>
        </p:txBody>
      </p:sp>
      <p:sp>
        <p:nvSpPr>
          <p:cNvPr id="30" name="Text 27"/>
          <p:cNvSpPr/>
          <p:nvPr/>
        </p:nvSpPr>
        <p:spPr>
          <a:xfrm>
            <a:off x="9848088" y="2304288"/>
            <a:ext cx="1627632" cy="384048"/>
          </a:xfrm>
          <a:prstGeom prst="rect">
            <a:avLst/>
          </a:prstGeom>
          <a:noFill/>
          <a:ln/>
        </p:spPr>
        <p:txBody>
          <a:bodyPr wrap="square" lIns="0" tIns="0" rIns="0" bIns="0" rtlCol="0" anchor="ctr"/>
          <a:lstStyle/>
          <a:p>
            <a:pPr indent="0" marL="0">
              <a:buNone/>
            </a:pPr>
            <a:r>
              <a:rPr lang="en-US" sz="1100" b="1" dirty="0">
                <a:solidFill>
                  <a:srgbClr val="F6F1DF"/>
                </a:solidFill>
                <a:latin typeface="Roboto" pitchFamily="34" charset="0"/>
                <a:ea typeface="Roboto" pitchFamily="34" charset="-122"/>
                <a:cs typeface="Roboto" pitchFamily="34" charset="-120"/>
              </a:rPr>
              <a:t>Market outcome</a:t>
            </a:r>
            <a:endParaRPr lang="en-US" sz="1100" dirty="0"/>
          </a:p>
        </p:txBody>
      </p:sp>
      <p:sp>
        <p:nvSpPr>
          <p:cNvPr id="31" name="Text 28"/>
          <p:cNvSpPr/>
          <p:nvPr/>
        </p:nvSpPr>
        <p:spPr>
          <a:xfrm>
            <a:off x="9848088" y="2852928"/>
            <a:ext cx="1627632" cy="1261872"/>
          </a:xfrm>
          <a:prstGeom prst="rect">
            <a:avLst/>
          </a:prstGeom>
          <a:noFill/>
          <a:ln/>
        </p:spPr>
        <p:txBody>
          <a:bodyPr wrap="square" lIns="0" tIns="0" rIns="0" bIns="0" rtlCol="0" anchor="t"/>
          <a:lstStyle/>
          <a:p>
            <a:pPr indent="0" marL="0">
              <a:buNone/>
            </a:pPr>
            <a:r>
              <a:rPr lang="en-US" sz="920" dirty="0">
                <a:solidFill>
                  <a:srgbClr val="F6F1DF"/>
                </a:solidFill>
                <a:latin typeface="Roboto" pitchFamily="34" charset="0"/>
                <a:ea typeface="Roboto" pitchFamily="34" charset="-122"/>
                <a:cs typeface="Roboto" pitchFamily="34" charset="-120"/>
              </a:rPr>
              <a:t>More active firms survive, hire and move up the value chain</a:t>
            </a:r>
            <a:endParaRPr lang="en-US" sz="920" dirty="0"/>
          </a:p>
        </p:txBody>
      </p:sp>
      <p:sp>
        <p:nvSpPr>
          <p:cNvPr id="32" name="Shape 29"/>
          <p:cNvSpPr/>
          <p:nvPr/>
        </p:nvSpPr>
        <p:spPr>
          <a:xfrm>
            <a:off x="1051560" y="5074920"/>
            <a:ext cx="2240280" cy="274320"/>
          </a:xfrm>
          <a:prstGeom prst="roundRect">
            <a:avLst>
              <a:gd name="adj" fmla="val 46667"/>
            </a:avLst>
          </a:prstGeom>
          <a:solidFill>
            <a:srgbClr val="F6E2E0"/>
          </a:solidFill>
          <a:ln w="12700">
            <a:solidFill>
              <a:srgbClr val="F6E2E0"/>
            </a:solidFill>
            <a:prstDash val="solid"/>
          </a:ln>
        </p:spPr>
      </p:sp>
      <p:sp>
        <p:nvSpPr>
          <p:cNvPr id="33" name="Text 30"/>
          <p:cNvSpPr/>
          <p:nvPr/>
        </p:nvSpPr>
        <p:spPr>
          <a:xfrm>
            <a:off x="1106424" y="5093208"/>
            <a:ext cx="213055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Compliance cost</a:t>
            </a:r>
            <a:endParaRPr lang="en-US" sz="750" dirty="0"/>
          </a:p>
        </p:txBody>
      </p:sp>
      <p:sp>
        <p:nvSpPr>
          <p:cNvPr id="34" name="Shape 31"/>
          <p:cNvSpPr/>
          <p:nvPr/>
        </p:nvSpPr>
        <p:spPr>
          <a:xfrm>
            <a:off x="3794760" y="5074920"/>
            <a:ext cx="2240280" cy="274320"/>
          </a:xfrm>
          <a:prstGeom prst="roundRect">
            <a:avLst>
              <a:gd name="adj" fmla="val 46667"/>
            </a:avLst>
          </a:prstGeom>
          <a:solidFill>
            <a:srgbClr val="F6E2E0"/>
          </a:solidFill>
          <a:ln w="12700">
            <a:solidFill>
              <a:srgbClr val="F6E2E0"/>
            </a:solidFill>
            <a:prstDash val="solid"/>
          </a:ln>
        </p:spPr>
      </p:sp>
      <p:sp>
        <p:nvSpPr>
          <p:cNvPr id="35" name="Text 32"/>
          <p:cNvSpPr/>
          <p:nvPr/>
        </p:nvSpPr>
        <p:spPr>
          <a:xfrm>
            <a:off x="3849624" y="5093208"/>
            <a:ext cx="213055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Management capability</a:t>
            </a:r>
            <a:endParaRPr lang="en-US" sz="750" dirty="0"/>
          </a:p>
        </p:txBody>
      </p:sp>
      <p:sp>
        <p:nvSpPr>
          <p:cNvPr id="36" name="Shape 33"/>
          <p:cNvSpPr/>
          <p:nvPr/>
        </p:nvSpPr>
        <p:spPr>
          <a:xfrm>
            <a:off x="6537960" y="5074920"/>
            <a:ext cx="2240280" cy="274320"/>
          </a:xfrm>
          <a:prstGeom prst="roundRect">
            <a:avLst>
              <a:gd name="adj" fmla="val 46667"/>
            </a:avLst>
          </a:prstGeom>
          <a:solidFill>
            <a:srgbClr val="F6E2E0"/>
          </a:solidFill>
          <a:ln w="12700">
            <a:solidFill>
              <a:srgbClr val="F6E2E0"/>
            </a:solidFill>
            <a:prstDash val="solid"/>
          </a:ln>
        </p:spPr>
      </p:sp>
      <p:sp>
        <p:nvSpPr>
          <p:cNvPr id="37" name="Text 34"/>
          <p:cNvSpPr/>
          <p:nvPr/>
        </p:nvSpPr>
        <p:spPr>
          <a:xfrm>
            <a:off x="6592824" y="5093208"/>
            <a:ext cx="213055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Working capital</a:t>
            </a:r>
            <a:endParaRPr lang="en-US" sz="750" dirty="0"/>
          </a:p>
        </p:txBody>
      </p:sp>
      <p:sp>
        <p:nvSpPr>
          <p:cNvPr id="38" name="Shape 35"/>
          <p:cNvSpPr/>
          <p:nvPr/>
        </p:nvSpPr>
        <p:spPr>
          <a:xfrm>
            <a:off x="9281160" y="5074920"/>
            <a:ext cx="2240280" cy="274320"/>
          </a:xfrm>
          <a:prstGeom prst="roundRect">
            <a:avLst>
              <a:gd name="adj" fmla="val 46667"/>
            </a:avLst>
          </a:prstGeom>
          <a:solidFill>
            <a:srgbClr val="F6E2E0"/>
          </a:solidFill>
          <a:ln w="12700">
            <a:solidFill>
              <a:srgbClr val="F6E2E0"/>
            </a:solidFill>
            <a:prstDash val="solid"/>
          </a:ln>
        </p:spPr>
      </p:sp>
      <p:sp>
        <p:nvSpPr>
          <p:cNvPr id="39" name="Text 36"/>
          <p:cNvSpPr/>
          <p:nvPr/>
        </p:nvSpPr>
        <p:spPr>
          <a:xfrm>
            <a:off x="9336024" y="5093208"/>
            <a:ext cx="213055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Market access</a:t>
            </a:r>
            <a:endParaRPr lang="en-US" sz="750" dirty="0"/>
          </a:p>
        </p:txBody>
      </p:sp>
      <p:sp>
        <p:nvSpPr>
          <p:cNvPr id="40" name="Shape 37"/>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41" name="Text 38"/>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Policy test: registrations are an intermediate output; the outcome is a larger stock of firms with revenue, jobs, repeat financing and multi-year survival.</a:t>
            </a:r>
            <a:endParaRPr lang="en-US" sz="9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2030 SCENARIOS</a:t>
            </a:r>
            <a:endParaRPr lang="en-US" sz="850" dirty="0"/>
          </a:p>
        </p:txBody>
      </p:sp>
      <p:sp>
        <p:nvSpPr>
          <p:cNvPr id="3" name="Text 1"/>
          <p:cNvSpPr/>
          <p:nvPr/>
        </p:nvSpPr>
        <p:spPr>
          <a:xfrm>
            <a:off x="457200" y="448056"/>
            <a:ext cx="11155680" cy="457200"/>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Reaching two million active enterprises would require an 18.4% annual pace—four times the recent trend</a:t>
            </a:r>
            <a:endParaRPr lang="en-US" sz="1800" dirty="0"/>
          </a:p>
        </p:txBody>
      </p:sp>
      <p:sp>
        <p:nvSpPr>
          <p:cNvPr id="4" name="Text 2"/>
          <p:cNvSpPr/>
          <p:nvPr/>
        </p:nvSpPr>
        <p:spPr>
          <a:xfrm>
            <a:off x="457200" y="932688"/>
            <a:ext cx="10972800" cy="219456"/>
          </a:xfrm>
          <a:prstGeom prst="rect">
            <a:avLst/>
          </a:prstGeom>
          <a:noFill/>
          <a:ln/>
        </p:spPr>
        <p:txBody>
          <a:bodyPr wrap="square" lIns="0" tIns="0" rIns="0" bIns="0" rtlCol="0" anchor="ctr"/>
          <a:lstStyle/>
          <a:p>
            <a:pPr indent="0" marL="0">
              <a:buNone/>
            </a:pPr>
            <a:r>
              <a:rPr lang="en-US" sz="1020" dirty="0">
                <a:solidFill>
                  <a:srgbClr val="66746B"/>
                </a:solidFill>
                <a:latin typeface="Roboto" pitchFamily="34" charset="0"/>
                <a:ea typeface="Roboto" pitchFamily="34" charset="-122"/>
                <a:cs typeface="Roboto" pitchFamily="34" charset="-120"/>
              </a:rPr>
              <a:t>Illustrative paths use the census-defined 2025 active-enterprise base; the policy target’s final statistical definition may differ.</a:t>
            </a:r>
            <a:endParaRPr lang="en-US" sz="1020" dirty="0"/>
          </a:p>
        </p:txBody>
      </p:sp>
      <p:sp>
        <p:nvSpPr>
          <p:cNvPr id="5" name="Shape 3"/>
          <p:cNvSpPr/>
          <p:nvPr/>
        </p:nvSpPr>
        <p:spPr>
          <a:xfrm>
            <a:off x="457200" y="1170432"/>
            <a:ext cx="11274552" cy="0"/>
          </a:xfrm>
          <a:prstGeom prst="line">
            <a:avLst/>
          </a:prstGeom>
          <a:noFill/>
          <a:ln w="12700">
            <a:solidFill>
              <a:srgbClr val="D8DED8"/>
            </a:solidFill>
            <a:prstDash val="solid"/>
          </a:ln>
        </p:spPr>
      </p:sp>
      <p:sp>
        <p:nvSpPr>
          <p:cNvPr id="6" name="Text 4"/>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https://xaydungchinhsach.chinhphu.vn/toan-van-nghi-quyet-so-68-nq-tw-ve-phat-trien-kinh-te-tu-nhan-119250505101309949.htm; NSO preliminary census p. 37; Sa.Partners calculations</a:t>
            </a:r>
            <a:endParaRPr lang="en-US" sz="680" dirty="0"/>
          </a:p>
        </p:txBody>
      </p:sp>
      <p:sp>
        <p:nvSpPr>
          <p:cNvPr id="7" name="Shape 5"/>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8"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graphicFrame>
        <p:nvGraphicFramePr>
          <p:cNvPr id="9" name="Chart 0" descr=""/>
          <p:cNvGraphicFramePr/>
          <p:nvPr/>
        </p:nvGraphicFramePr>
        <p:xfrm>
          <a:off x="566928" y="1417320"/>
          <a:ext cx="7680960" cy="4050792"/>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8503920" y="1508760"/>
            <a:ext cx="3090672" cy="1097280"/>
          </a:xfrm>
          <a:prstGeom prst="roundRect">
            <a:avLst>
              <a:gd name="adj" fmla="val 5000"/>
            </a:avLst>
          </a:prstGeom>
          <a:solidFill>
            <a:srgbClr val="FBFAF3"/>
          </a:solidFill>
          <a:ln w="12700">
            <a:solidFill>
              <a:srgbClr val="D8DED8"/>
            </a:solidFill>
            <a:prstDash val="solid"/>
          </a:ln>
        </p:spPr>
      </p:sp>
      <p:sp>
        <p:nvSpPr>
          <p:cNvPr id="11" name="Text 7"/>
          <p:cNvSpPr/>
          <p:nvPr/>
        </p:nvSpPr>
        <p:spPr>
          <a:xfrm>
            <a:off x="8668512" y="1627632"/>
            <a:ext cx="2761488" cy="393192"/>
          </a:xfrm>
          <a:prstGeom prst="rect">
            <a:avLst/>
          </a:prstGeom>
          <a:noFill/>
          <a:ln/>
        </p:spPr>
        <p:txBody>
          <a:bodyPr wrap="square" lIns="0" tIns="0" rIns="0" bIns="0" rtlCol="0" anchor="ctr"/>
          <a:lstStyle/>
          <a:p>
            <a:pPr indent="0" marL="0">
              <a:buNone/>
            </a:pPr>
            <a:r>
              <a:rPr lang="en-US" sz="2500" b="1" dirty="0">
                <a:solidFill>
                  <a:srgbClr val="0B3D2A"/>
                </a:solidFill>
                <a:latin typeface="Roboto" pitchFamily="34" charset="0"/>
                <a:ea typeface="Roboto" pitchFamily="34" charset="-122"/>
                <a:cs typeface="Roboto" pitchFamily="34" charset="-120"/>
              </a:rPr>
              <a:t>1.14m</a:t>
            </a:r>
            <a:endParaRPr lang="en-US" sz="2500" dirty="0"/>
          </a:p>
        </p:txBody>
      </p:sp>
      <p:sp>
        <p:nvSpPr>
          <p:cNvPr id="12" name="Text 8"/>
          <p:cNvSpPr/>
          <p:nvPr/>
        </p:nvSpPr>
        <p:spPr>
          <a:xfrm>
            <a:off x="8668512" y="2029968"/>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Increment required</a:t>
            </a:r>
            <a:endParaRPr lang="en-US" sz="1000" dirty="0"/>
          </a:p>
        </p:txBody>
      </p:sp>
      <p:sp>
        <p:nvSpPr>
          <p:cNvPr id="13" name="Text 9"/>
          <p:cNvSpPr/>
          <p:nvPr/>
        </p:nvSpPr>
        <p:spPr>
          <a:xfrm>
            <a:off x="8668512" y="2304288"/>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2025 active base to 2030 target</a:t>
            </a:r>
            <a:endParaRPr lang="en-US" sz="820" dirty="0"/>
          </a:p>
        </p:txBody>
      </p:sp>
      <p:sp>
        <p:nvSpPr>
          <p:cNvPr id="14" name="Shape 10"/>
          <p:cNvSpPr/>
          <p:nvPr/>
        </p:nvSpPr>
        <p:spPr>
          <a:xfrm>
            <a:off x="8503920" y="2816352"/>
            <a:ext cx="3090672" cy="1097280"/>
          </a:xfrm>
          <a:prstGeom prst="roundRect">
            <a:avLst>
              <a:gd name="adj" fmla="val 5000"/>
            </a:avLst>
          </a:prstGeom>
          <a:solidFill>
            <a:srgbClr val="F2EBD6"/>
          </a:solidFill>
          <a:ln w="12700">
            <a:solidFill>
              <a:srgbClr val="D8DED8"/>
            </a:solidFill>
            <a:prstDash val="solid"/>
          </a:ln>
        </p:spPr>
      </p:sp>
      <p:sp>
        <p:nvSpPr>
          <p:cNvPr id="15" name="Text 11"/>
          <p:cNvSpPr/>
          <p:nvPr/>
        </p:nvSpPr>
        <p:spPr>
          <a:xfrm>
            <a:off x="8668512" y="2935224"/>
            <a:ext cx="2761488" cy="393192"/>
          </a:xfrm>
          <a:prstGeom prst="rect">
            <a:avLst/>
          </a:prstGeom>
          <a:noFill/>
          <a:ln/>
        </p:spPr>
        <p:txBody>
          <a:bodyPr wrap="square" lIns="0" tIns="0" rIns="0" bIns="0" rtlCol="0" anchor="ctr"/>
          <a:lstStyle/>
          <a:p>
            <a:pPr indent="0" marL="0">
              <a:buNone/>
            </a:pPr>
            <a:r>
              <a:rPr lang="en-US" sz="2500" b="1" dirty="0">
                <a:solidFill>
                  <a:srgbClr val="8C7A3A"/>
                </a:solidFill>
                <a:latin typeface="Roboto" pitchFamily="34" charset="0"/>
                <a:ea typeface="Roboto" pitchFamily="34" charset="-122"/>
                <a:cs typeface="Roboto" pitchFamily="34" charset="-120"/>
              </a:rPr>
              <a:t>18.4%</a:t>
            </a:r>
            <a:endParaRPr lang="en-US" sz="2500" dirty="0"/>
          </a:p>
        </p:txBody>
      </p:sp>
      <p:sp>
        <p:nvSpPr>
          <p:cNvPr id="16" name="Text 12"/>
          <p:cNvSpPr/>
          <p:nvPr/>
        </p:nvSpPr>
        <p:spPr>
          <a:xfrm>
            <a:off x="8668512" y="3337560"/>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Required CAGR</a:t>
            </a:r>
            <a:endParaRPr lang="en-US" sz="1000" dirty="0"/>
          </a:p>
        </p:txBody>
      </p:sp>
      <p:sp>
        <p:nvSpPr>
          <p:cNvPr id="17" name="Text 13"/>
          <p:cNvSpPr/>
          <p:nvPr/>
        </p:nvSpPr>
        <p:spPr>
          <a:xfrm>
            <a:off x="8668512" y="3611880"/>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vs 4.7% observed in 2020–25</a:t>
            </a:r>
            <a:endParaRPr lang="en-US" sz="820" dirty="0"/>
          </a:p>
        </p:txBody>
      </p:sp>
      <p:sp>
        <p:nvSpPr>
          <p:cNvPr id="18" name="Shape 14"/>
          <p:cNvSpPr/>
          <p:nvPr/>
        </p:nvSpPr>
        <p:spPr>
          <a:xfrm>
            <a:off x="8503920" y="4123944"/>
            <a:ext cx="3090672" cy="1097280"/>
          </a:xfrm>
          <a:prstGeom prst="roundRect">
            <a:avLst>
              <a:gd name="adj" fmla="val 5000"/>
            </a:avLst>
          </a:prstGeom>
          <a:solidFill>
            <a:srgbClr val="F6E2E0"/>
          </a:solidFill>
          <a:ln w="12700">
            <a:solidFill>
              <a:srgbClr val="D8DED8"/>
            </a:solidFill>
            <a:prstDash val="solid"/>
          </a:ln>
        </p:spPr>
      </p:sp>
      <p:sp>
        <p:nvSpPr>
          <p:cNvPr id="19" name="Text 15"/>
          <p:cNvSpPr/>
          <p:nvPr/>
        </p:nvSpPr>
        <p:spPr>
          <a:xfrm>
            <a:off x="8668512" y="4242816"/>
            <a:ext cx="2761488" cy="393192"/>
          </a:xfrm>
          <a:prstGeom prst="rect">
            <a:avLst/>
          </a:prstGeom>
          <a:noFill/>
          <a:ln/>
        </p:spPr>
        <p:txBody>
          <a:bodyPr wrap="square" lIns="0" tIns="0" rIns="0" bIns="0" rtlCol="0" anchor="ctr"/>
          <a:lstStyle/>
          <a:p>
            <a:pPr indent="0" marL="0">
              <a:buNone/>
            </a:pPr>
            <a:r>
              <a:rPr lang="en-US" sz="2500" b="1" dirty="0">
                <a:solidFill>
                  <a:srgbClr val="B6423C"/>
                </a:solidFill>
                <a:latin typeface="Roboto" pitchFamily="34" charset="0"/>
                <a:ea typeface="Roboto" pitchFamily="34" charset="-122"/>
                <a:cs typeface="Roboto" pitchFamily="34" charset="-120"/>
              </a:rPr>
              <a:t>1.08m</a:t>
            </a:r>
            <a:endParaRPr lang="en-US" sz="2500" dirty="0"/>
          </a:p>
        </p:txBody>
      </p:sp>
      <p:sp>
        <p:nvSpPr>
          <p:cNvPr id="20" name="Text 16"/>
          <p:cNvSpPr/>
          <p:nvPr/>
        </p:nvSpPr>
        <p:spPr>
          <a:xfrm>
            <a:off x="8668512" y="4645152"/>
            <a:ext cx="2761488" cy="246888"/>
          </a:xfrm>
          <a:prstGeom prst="rect">
            <a:avLst/>
          </a:prstGeom>
          <a:noFill/>
          <a:ln/>
        </p:spPr>
        <p:txBody>
          <a:bodyPr wrap="square" lIns="0" tIns="0" rIns="0" bIns="0" rtlCol="0" anchor="ctr"/>
          <a:lstStyle/>
          <a:p>
            <a:pPr indent="0" marL="0">
              <a:buNone/>
            </a:pPr>
            <a:r>
              <a:rPr lang="en-US" sz="1000" b="1" dirty="0">
                <a:solidFill>
                  <a:srgbClr val="17211B"/>
                </a:solidFill>
                <a:latin typeface="Roboto" pitchFamily="34" charset="0"/>
                <a:ea typeface="Roboto" pitchFamily="34" charset="-122"/>
                <a:cs typeface="Roboto" pitchFamily="34" charset="-120"/>
              </a:rPr>
              <a:t>Recent-pace outcome</a:t>
            </a:r>
            <a:endParaRPr lang="en-US" sz="1000" dirty="0"/>
          </a:p>
        </p:txBody>
      </p:sp>
      <p:sp>
        <p:nvSpPr>
          <p:cNvPr id="21" name="Text 17"/>
          <p:cNvSpPr/>
          <p:nvPr/>
        </p:nvSpPr>
        <p:spPr>
          <a:xfrm>
            <a:off x="8668512" y="4919472"/>
            <a:ext cx="2761488" cy="228600"/>
          </a:xfrm>
          <a:prstGeom prst="rect">
            <a:avLst/>
          </a:prstGeom>
          <a:noFill/>
          <a:ln/>
        </p:spPr>
        <p:txBody>
          <a:bodyPr wrap="square" lIns="0" tIns="0" rIns="0" bIns="0" rtlCol="0" anchor="ctr"/>
          <a:lstStyle/>
          <a:p>
            <a:pPr indent="0" marL="0">
              <a:buNone/>
            </a:pPr>
            <a:r>
              <a:rPr lang="en-US" sz="820" dirty="0">
                <a:solidFill>
                  <a:srgbClr val="66746B"/>
                </a:solidFill>
                <a:latin typeface="Roboto" pitchFamily="34" charset="0"/>
                <a:ea typeface="Roboto" pitchFamily="34" charset="-122"/>
                <a:cs typeface="Roboto" pitchFamily="34" charset="-120"/>
              </a:rPr>
              <a:t>Illustrative 2030 active enterprises</a:t>
            </a:r>
            <a:endParaRPr lang="en-US" sz="820" dirty="0"/>
          </a:p>
        </p:txBody>
      </p:sp>
      <p:sp>
        <p:nvSpPr>
          <p:cNvPr id="22" name="Shape 18"/>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23" name="Text 19"/>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So what? The target is not achievable through organic growth alone; conversion and survival must create a structural break in the active-enterprise trajectory.</a:t>
            </a:r>
            <a:endParaRPr lang="en-US" sz="9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MARKET OPPORTUNITY</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The transition opens a B2B infrastructure market around compliance, finance, workforce and distribution</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Nghị quyết 68; Sa.Partners inference</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Shape 5"/>
          <p:cNvSpPr/>
          <p:nvPr/>
        </p:nvSpPr>
        <p:spPr>
          <a:xfrm>
            <a:off x="4663440" y="2377440"/>
            <a:ext cx="2880360" cy="1298448"/>
          </a:xfrm>
          <a:prstGeom prst="ellipse">
            <a:avLst/>
          </a:prstGeom>
          <a:solidFill>
            <a:srgbClr val="0B3D2A"/>
          </a:solidFill>
          <a:ln w="12700">
            <a:solidFill>
              <a:srgbClr val="0B3D2A"/>
            </a:solidFill>
            <a:prstDash val="solid"/>
          </a:ln>
        </p:spPr>
      </p:sp>
      <p:sp>
        <p:nvSpPr>
          <p:cNvPr id="9" name="Text 6"/>
          <p:cNvSpPr/>
          <p:nvPr/>
        </p:nvSpPr>
        <p:spPr>
          <a:xfrm>
            <a:off x="4937760" y="2615184"/>
            <a:ext cx="2331720" cy="749808"/>
          </a:xfrm>
          <a:prstGeom prst="rect">
            <a:avLst/>
          </a:prstGeom>
          <a:noFill/>
          <a:ln/>
        </p:spPr>
        <p:txBody>
          <a:bodyPr wrap="square" lIns="0" tIns="0" rIns="0" bIns="0" rtlCol="0" anchor="ctr"/>
          <a:lstStyle/>
          <a:p>
            <a:pPr algn="ctr" indent="0" marL="0">
              <a:buNone/>
            </a:pPr>
            <a:r>
              <a:rPr lang="en-US" sz="1500" b="1" dirty="0">
                <a:solidFill>
                  <a:srgbClr val="F6F1DF"/>
                </a:solidFill>
                <a:latin typeface="Roboto" pitchFamily="34" charset="0"/>
                <a:ea typeface="Roboto" pitchFamily="34" charset="-122"/>
                <a:cs typeface="Roboto" pitchFamily="34" charset="-120"/>
              </a:rPr>
              <a:t>FORMALIZATION</a:t>
            </a:r>
            <a:endParaRPr lang="en-US" sz="1500" dirty="0"/>
          </a:p>
          <a:p>
            <a:pPr algn="ctr" indent="0" marL="0">
              <a:buNone/>
            </a:pPr>
            <a:r>
              <a:rPr lang="en-US" sz="1500" b="1" dirty="0">
                <a:solidFill>
                  <a:srgbClr val="F6F1DF"/>
                </a:solidFill>
                <a:latin typeface="Roboto" pitchFamily="34" charset="0"/>
                <a:ea typeface="Roboto" pitchFamily="34" charset="-122"/>
                <a:cs typeface="Roboto" pitchFamily="34" charset="-120"/>
              </a:rPr>
              <a:t>CONTROL LAYER</a:t>
            </a:r>
            <a:endParaRPr lang="en-US" sz="1500" dirty="0"/>
          </a:p>
        </p:txBody>
      </p:sp>
      <p:sp>
        <p:nvSpPr>
          <p:cNvPr id="10" name="Shape 7"/>
          <p:cNvSpPr/>
          <p:nvPr/>
        </p:nvSpPr>
        <p:spPr>
          <a:xfrm>
            <a:off x="640080" y="1417320"/>
            <a:ext cx="2971800" cy="1389888"/>
          </a:xfrm>
          <a:prstGeom prst="roundRect">
            <a:avLst>
              <a:gd name="adj" fmla="val 3947"/>
            </a:avLst>
          </a:prstGeom>
          <a:solidFill>
            <a:srgbClr val="DDE8DF"/>
          </a:solidFill>
          <a:ln w="12700">
            <a:solidFill>
              <a:srgbClr val="14543B"/>
            </a:solidFill>
            <a:prstDash val="solid"/>
          </a:ln>
        </p:spPr>
      </p:sp>
      <p:sp>
        <p:nvSpPr>
          <p:cNvPr id="11" name="Text 8"/>
          <p:cNvSpPr/>
          <p:nvPr/>
        </p:nvSpPr>
        <p:spPr>
          <a:xfrm>
            <a:off x="804672" y="1563624"/>
            <a:ext cx="2606040" cy="274320"/>
          </a:xfrm>
          <a:prstGeom prst="rect">
            <a:avLst/>
          </a:prstGeom>
          <a:noFill/>
          <a:ln/>
        </p:spPr>
        <p:txBody>
          <a:bodyPr wrap="square" lIns="0" tIns="0" rIns="0" bIns="0" rtlCol="0" anchor="ctr"/>
          <a:lstStyle/>
          <a:p>
            <a:pPr indent="0" marL="0">
              <a:buNone/>
            </a:pPr>
            <a:r>
              <a:rPr lang="en-US" sz="1100" b="1" dirty="0">
                <a:solidFill>
                  <a:srgbClr val="0B3D2A"/>
                </a:solidFill>
                <a:latin typeface="Roboto" pitchFamily="34" charset="0"/>
                <a:ea typeface="Roboto" pitchFamily="34" charset="-122"/>
                <a:cs typeface="Roboto" pitchFamily="34" charset="-120"/>
              </a:rPr>
              <a:t>Accounting &amp; tax</a:t>
            </a:r>
            <a:endParaRPr lang="en-US" sz="1100" dirty="0"/>
          </a:p>
        </p:txBody>
      </p:sp>
      <p:sp>
        <p:nvSpPr>
          <p:cNvPr id="12" name="Text 9"/>
          <p:cNvSpPr/>
          <p:nvPr/>
        </p:nvSpPr>
        <p:spPr>
          <a:xfrm>
            <a:off x="804672" y="1920240"/>
            <a:ext cx="2606040" cy="274320"/>
          </a:xfrm>
          <a:prstGeom prst="rect">
            <a:avLst/>
          </a:prstGeom>
          <a:noFill/>
          <a:ln/>
        </p:spPr>
        <p:txBody>
          <a:bodyPr wrap="square" lIns="0" tIns="0" rIns="0" bIns="0" rtlCol="0" anchor="ctr"/>
          <a:lstStyle/>
          <a:p>
            <a:pPr indent="0" marL="0">
              <a:buNone/>
            </a:pPr>
            <a:r>
              <a:rPr lang="en-US" sz="900" dirty="0">
                <a:solidFill>
                  <a:srgbClr val="17211B"/>
                </a:solidFill>
                <a:latin typeface="Roboto" pitchFamily="34" charset="0"/>
                <a:ea typeface="Roboto" pitchFamily="34" charset="-122"/>
                <a:cs typeface="Roboto" pitchFamily="34" charset="-120"/>
              </a:rPr>
              <a:t>E-invoices, bookkeeping, filings</a:t>
            </a:r>
            <a:endParaRPr lang="en-US" sz="900" dirty="0"/>
          </a:p>
        </p:txBody>
      </p:sp>
      <p:sp>
        <p:nvSpPr>
          <p:cNvPr id="13" name="Text 10"/>
          <p:cNvSpPr/>
          <p:nvPr/>
        </p:nvSpPr>
        <p:spPr>
          <a:xfrm>
            <a:off x="804672" y="2322576"/>
            <a:ext cx="2606040" cy="219456"/>
          </a:xfrm>
          <a:prstGeom prst="rect">
            <a:avLst/>
          </a:prstGeom>
          <a:noFill/>
          <a:ln/>
        </p:spPr>
        <p:txBody>
          <a:bodyPr wrap="square" lIns="0" tIns="0" rIns="0" bIns="0" rtlCol="0" anchor="ctr"/>
          <a:lstStyle/>
          <a:p>
            <a:pPr indent="0" marL="0">
              <a:buNone/>
            </a:pPr>
            <a:r>
              <a:rPr lang="en-US" sz="800" i="1" dirty="0">
                <a:solidFill>
                  <a:srgbClr val="66746B"/>
                </a:solidFill>
                <a:latin typeface="Roboto" pitchFamily="34" charset="0"/>
                <a:ea typeface="Roboto" pitchFamily="34" charset="-122"/>
                <a:cs typeface="Roboto" pitchFamily="34" charset="-120"/>
              </a:rPr>
              <a:t>Recurring compliance</a:t>
            </a:r>
            <a:endParaRPr lang="en-US" sz="800" dirty="0"/>
          </a:p>
        </p:txBody>
      </p:sp>
      <p:sp>
        <p:nvSpPr>
          <p:cNvPr id="14" name="Shape 11"/>
          <p:cNvSpPr/>
          <p:nvPr/>
        </p:nvSpPr>
        <p:spPr>
          <a:xfrm>
            <a:off x="3611880" y="2112264"/>
            <a:ext cx="1051560" cy="676656"/>
          </a:xfrm>
          <a:prstGeom prst="line">
            <a:avLst/>
          </a:prstGeom>
          <a:noFill/>
          <a:ln w="12700">
            <a:solidFill>
              <a:srgbClr val="D8DED8"/>
            </a:solidFill>
            <a:prstDash val="solid"/>
            <a:headEnd type="none"/>
            <a:tailEnd type="triangle"/>
          </a:ln>
        </p:spPr>
      </p:sp>
      <p:sp>
        <p:nvSpPr>
          <p:cNvPr id="15" name="Shape 12"/>
          <p:cNvSpPr/>
          <p:nvPr/>
        </p:nvSpPr>
        <p:spPr>
          <a:xfrm>
            <a:off x="8577072" y="1417320"/>
            <a:ext cx="2971800" cy="1389888"/>
          </a:xfrm>
          <a:prstGeom prst="roundRect">
            <a:avLst>
              <a:gd name="adj" fmla="val 3947"/>
            </a:avLst>
          </a:prstGeom>
          <a:solidFill>
            <a:srgbClr val="F2EBD6"/>
          </a:solidFill>
          <a:ln w="12700">
            <a:solidFill>
              <a:srgbClr val="8C7A3A"/>
            </a:solidFill>
            <a:prstDash val="solid"/>
          </a:ln>
        </p:spPr>
      </p:sp>
      <p:sp>
        <p:nvSpPr>
          <p:cNvPr id="16" name="Text 13"/>
          <p:cNvSpPr/>
          <p:nvPr/>
        </p:nvSpPr>
        <p:spPr>
          <a:xfrm>
            <a:off x="8741664" y="1563624"/>
            <a:ext cx="2606040" cy="274320"/>
          </a:xfrm>
          <a:prstGeom prst="rect">
            <a:avLst/>
          </a:prstGeom>
          <a:noFill/>
          <a:ln/>
        </p:spPr>
        <p:txBody>
          <a:bodyPr wrap="square" lIns="0" tIns="0" rIns="0" bIns="0" rtlCol="0" anchor="ctr"/>
          <a:lstStyle/>
          <a:p>
            <a:pPr indent="0" marL="0">
              <a:buNone/>
            </a:pPr>
            <a:r>
              <a:rPr lang="en-US" sz="1100" b="1" dirty="0">
                <a:solidFill>
                  <a:srgbClr val="0B3D2A"/>
                </a:solidFill>
                <a:latin typeface="Roboto" pitchFamily="34" charset="0"/>
                <a:ea typeface="Roboto" pitchFamily="34" charset="-122"/>
                <a:cs typeface="Roboto" pitchFamily="34" charset="-120"/>
              </a:rPr>
              <a:t>Finance &amp; payments</a:t>
            </a:r>
            <a:endParaRPr lang="en-US" sz="1100" dirty="0"/>
          </a:p>
        </p:txBody>
      </p:sp>
      <p:sp>
        <p:nvSpPr>
          <p:cNvPr id="17" name="Text 14"/>
          <p:cNvSpPr/>
          <p:nvPr/>
        </p:nvSpPr>
        <p:spPr>
          <a:xfrm>
            <a:off x="8741664" y="1920240"/>
            <a:ext cx="2606040" cy="274320"/>
          </a:xfrm>
          <a:prstGeom prst="rect">
            <a:avLst/>
          </a:prstGeom>
          <a:noFill/>
          <a:ln/>
        </p:spPr>
        <p:txBody>
          <a:bodyPr wrap="square" lIns="0" tIns="0" rIns="0" bIns="0" rtlCol="0" anchor="ctr"/>
          <a:lstStyle/>
          <a:p>
            <a:pPr indent="0" marL="0">
              <a:buNone/>
            </a:pPr>
            <a:r>
              <a:rPr lang="en-US" sz="900" dirty="0">
                <a:solidFill>
                  <a:srgbClr val="17211B"/>
                </a:solidFill>
                <a:latin typeface="Roboto" pitchFamily="34" charset="0"/>
                <a:ea typeface="Roboto" pitchFamily="34" charset="-122"/>
                <a:cs typeface="Roboto" pitchFamily="34" charset="-120"/>
              </a:rPr>
              <a:t>Accounts, credit, collections</a:t>
            </a:r>
            <a:endParaRPr lang="en-US" sz="900" dirty="0"/>
          </a:p>
        </p:txBody>
      </p:sp>
      <p:sp>
        <p:nvSpPr>
          <p:cNvPr id="18" name="Text 15"/>
          <p:cNvSpPr/>
          <p:nvPr/>
        </p:nvSpPr>
        <p:spPr>
          <a:xfrm>
            <a:off x="8741664" y="2322576"/>
            <a:ext cx="2606040" cy="219456"/>
          </a:xfrm>
          <a:prstGeom prst="rect">
            <a:avLst/>
          </a:prstGeom>
          <a:noFill/>
          <a:ln/>
        </p:spPr>
        <p:txBody>
          <a:bodyPr wrap="square" lIns="0" tIns="0" rIns="0" bIns="0" rtlCol="0" anchor="ctr"/>
          <a:lstStyle/>
          <a:p>
            <a:pPr indent="0" marL="0">
              <a:buNone/>
            </a:pPr>
            <a:r>
              <a:rPr lang="en-US" sz="800" i="1" dirty="0">
                <a:solidFill>
                  <a:srgbClr val="66746B"/>
                </a:solidFill>
                <a:latin typeface="Roboto" pitchFamily="34" charset="0"/>
                <a:ea typeface="Roboto" pitchFamily="34" charset="-122"/>
                <a:cs typeface="Roboto" pitchFamily="34" charset="-120"/>
              </a:rPr>
              <a:t>Data-enabled underwriting</a:t>
            </a:r>
            <a:endParaRPr lang="en-US" sz="800" dirty="0"/>
          </a:p>
        </p:txBody>
      </p:sp>
      <p:sp>
        <p:nvSpPr>
          <p:cNvPr id="19" name="Shape 16"/>
          <p:cNvSpPr/>
          <p:nvPr/>
        </p:nvSpPr>
        <p:spPr>
          <a:xfrm>
            <a:off x="7543800" y="2112264"/>
            <a:ext cx="1033272" cy="676656"/>
          </a:xfrm>
          <a:prstGeom prst="line">
            <a:avLst/>
          </a:prstGeom>
          <a:noFill/>
          <a:ln w="12700">
            <a:solidFill>
              <a:srgbClr val="D8DED8"/>
            </a:solidFill>
            <a:prstDash val="solid"/>
            <a:headEnd type="none"/>
            <a:tailEnd type="triangle"/>
          </a:ln>
        </p:spPr>
      </p:sp>
      <p:sp>
        <p:nvSpPr>
          <p:cNvPr id="20" name="Shape 17"/>
          <p:cNvSpPr/>
          <p:nvPr/>
        </p:nvSpPr>
        <p:spPr>
          <a:xfrm>
            <a:off x="640080" y="3977640"/>
            <a:ext cx="2971800" cy="1389888"/>
          </a:xfrm>
          <a:prstGeom prst="roundRect">
            <a:avLst>
              <a:gd name="adj" fmla="val 3947"/>
            </a:avLst>
          </a:prstGeom>
          <a:solidFill>
            <a:srgbClr val="DDE8DF"/>
          </a:solidFill>
          <a:ln w="12700">
            <a:solidFill>
              <a:srgbClr val="14543B"/>
            </a:solidFill>
            <a:prstDash val="solid"/>
          </a:ln>
        </p:spPr>
      </p:sp>
      <p:sp>
        <p:nvSpPr>
          <p:cNvPr id="21" name="Text 18"/>
          <p:cNvSpPr/>
          <p:nvPr/>
        </p:nvSpPr>
        <p:spPr>
          <a:xfrm>
            <a:off x="804672" y="4123944"/>
            <a:ext cx="2606040" cy="274320"/>
          </a:xfrm>
          <a:prstGeom prst="rect">
            <a:avLst/>
          </a:prstGeom>
          <a:noFill/>
          <a:ln/>
        </p:spPr>
        <p:txBody>
          <a:bodyPr wrap="square" lIns="0" tIns="0" rIns="0" bIns="0" rtlCol="0" anchor="ctr"/>
          <a:lstStyle/>
          <a:p>
            <a:pPr indent="0" marL="0">
              <a:buNone/>
            </a:pPr>
            <a:r>
              <a:rPr lang="en-US" sz="1100" b="1" dirty="0">
                <a:solidFill>
                  <a:srgbClr val="0B3D2A"/>
                </a:solidFill>
                <a:latin typeface="Roboto" pitchFamily="34" charset="0"/>
                <a:ea typeface="Roboto" pitchFamily="34" charset="-122"/>
                <a:cs typeface="Roboto" pitchFamily="34" charset="-120"/>
              </a:rPr>
              <a:t>Workforce systems</a:t>
            </a:r>
            <a:endParaRPr lang="en-US" sz="1100" dirty="0"/>
          </a:p>
        </p:txBody>
      </p:sp>
      <p:sp>
        <p:nvSpPr>
          <p:cNvPr id="22" name="Text 19"/>
          <p:cNvSpPr/>
          <p:nvPr/>
        </p:nvSpPr>
        <p:spPr>
          <a:xfrm>
            <a:off x="804672" y="4480560"/>
            <a:ext cx="2606040" cy="274320"/>
          </a:xfrm>
          <a:prstGeom prst="rect">
            <a:avLst/>
          </a:prstGeom>
          <a:noFill/>
          <a:ln/>
        </p:spPr>
        <p:txBody>
          <a:bodyPr wrap="square" lIns="0" tIns="0" rIns="0" bIns="0" rtlCol="0" anchor="ctr"/>
          <a:lstStyle/>
          <a:p>
            <a:pPr indent="0" marL="0">
              <a:buNone/>
            </a:pPr>
            <a:r>
              <a:rPr lang="en-US" sz="900" dirty="0">
                <a:solidFill>
                  <a:srgbClr val="17211B"/>
                </a:solidFill>
                <a:latin typeface="Roboto" pitchFamily="34" charset="0"/>
                <a:ea typeface="Roboto" pitchFamily="34" charset="-122"/>
                <a:cs typeface="Roboto" pitchFamily="34" charset="-120"/>
              </a:rPr>
              <a:t>Payroll, social insurance, HR</a:t>
            </a:r>
            <a:endParaRPr lang="en-US" sz="900" dirty="0"/>
          </a:p>
        </p:txBody>
      </p:sp>
      <p:sp>
        <p:nvSpPr>
          <p:cNvPr id="23" name="Text 20"/>
          <p:cNvSpPr/>
          <p:nvPr/>
        </p:nvSpPr>
        <p:spPr>
          <a:xfrm>
            <a:off x="804672" y="4882896"/>
            <a:ext cx="2606040" cy="219456"/>
          </a:xfrm>
          <a:prstGeom prst="rect">
            <a:avLst/>
          </a:prstGeom>
          <a:noFill/>
          <a:ln/>
        </p:spPr>
        <p:txBody>
          <a:bodyPr wrap="square" lIns="0" tIns="0" rIns="0" bIns="0" rtlCol="0" anchor="ctr"/>
          <a:lstStyle/>
          <a:p>
            <a:pPr indent="0" marL="0">
              <a:buNone/>
            </a:pPr>
            <a:r>
              <a:rPr lang="en-US" sz="800" i="1" dirty="0">
                <a:solidFill>
                  <a:srgbClr val="66746B"/>
                </a:solidFill>
                <a:latin typeface="Roboto" pitchFamily="34" charset="0"/>
                <a:ea typeface="Roboto" pitchFamily="34" charset="-122"/>
                <a:cs typeface="Roboto" pitchFamily="34" charset="-120"/>
              </a:rPr>
              <a:t>Formal job infrastructure</a:t>
            </a:r>
            <a:endParaRPr lang="en-US" sz="800" dirty="0"/>
          </a:p>
        </p:txBody>
      </p:sp>
      <p:sp>
        <p:nvSpPr>
          <p:cNvPr id="24" name="Shape 21"/>
          <p:cNvSpPr/>
          <p:nvPr/>
        </p:nvSpPr>
        <p:spPr>
          <a:xfrm>
            <a:off x="3611880" y="4672584"/>
            <a:ext cx="1051560" cy="-1426464"/>
          </a:xfrm>
          <a:prstGeom prst="line">
            <a:avLst/>
          </a:prstGeom>
          <a:noFill/>
          <a:ln w="12700">
            <a:solidFill>
              <a:srgbClr val="D8DED8"/>
            </a:solidFill>
            <a:prstDash val="solid"/>
            <a:headEnd type="none"/>
            <a:tailEnd type="triangle"/>
          </a:ln>
        </p:spPr>
      </p:sp>
      <p:sp>
        <p:nvSpPr>
          <p:cNvPr id="25" name="Shape 22"/>
          <p:cNvSpPr/>
          <p:nvPr/>
        </p:nvSpPr>
        <p:spPr>
          <a:xfrm>
            <a:off x="8577072" y="3977640"/>
            <a:ext cx="2971800" cy="1389888"/>
          </a:xfrm>
          <a:prstGeom prst="roundRect">
            <a:avLst>
              <a:gd name="adj" fmla="val 3947"/>
            </a:avLst>
          </a:prstGeom>
          <a:solidFill>
            <a:srgbClr val="F2EBD6"/>
          </a:solidFill>
          <a:ln w="12700">
            <a:solidFill>
              <a:srgbClr val="8C7A3A"/>
            </a:solidFill>
            <a:prstDash val="solid"/>
          </a:ln>
        </p:spPr>
      </p:sp>
      <p:sp>
        <p:nvSpPr>
          <p:cNvPr id="26" name="Text 23"/>
          <p:cNvSpPr/>
          <p:nvPr/>
        </p:nvSpPr>
        <p:spPr>
          <a:xfrm>
            <a:off x="8741664" y="4123944"/>
            <a:ext cx="2606040" cy="274320"/>
          </a:xfrm>
          <a:prstGeom prst="rect">
            <a:avLst/>
          </a:prstGeom>
          <a:noFill/>
          <a:ln/>
        </p:spPr>
        <p:txBody>
          <a:bodyPr wrap="square" lIns="0" tIns="0" rIns="0" bIns="0" rtlCol="0" anchor="ctr"/>
          <a:lstStyle/>
          <a:p>
            <a:pPr indent="0" marL="0">
              <a:buNone/>
            </a:pPr>
            <a:r>
              <a:rPr lang="en-US" sz="1100" b="1" dirty="0">
                <a:solidFill>
                  <a:srgbClr val="0B3D2A"/>
                </a:solidFill>
                <a:latin typeface="Roboto" pitchFamily="34" charset="0"/>
                <a:ea typeface="Roboto" pitchFamily="34" charset="-122"/>
                <a:cs typeface="Roboto" pitchFamily="34" charset="-120"/>
              </a:rPr>
              <a:t>Digital operations</a:t>
            </a:r>
            <a:endParaRPr lang="en-US" sz="1100" dirty="0"/>
          </a:p>
        </p:txBody>
      </p:sp>
      <p:sp>
        <p:nvSpPr>
          <p:cNvPr id="27" name="Text 24"/>
          <p:cNvSpPr/>
          <p:nvPr/>
        </p:nvSpPr>
        <p:spPr>
          <a:xfrm>
            <a:off x="8741664" y="4480560"/>
            <a:ext cx="2606040" cy="274320"/>
          </a:xfrm>
          <a:prstGeom prst="rect">
            <a:avLst/>
          </a:prstGeom>
          <a:noFill/>
          <a:ln/>
        </p:spPr>
        <p:txBody>
          <a:bodyPr wrap="square" lIns="0" tIns="0" rIns="0" bIns="0" rtlCol="0" anchor="ctr"/>
          <a:lstStyle/>
          <a:p>
            <a:pPr indent="0" marL="0">
              <a:buNone/>
            </a:pPr>
            <a:r>
              <a:rPr lang="en-US" sz="900" dirty="0">
                <a:solidFill>
                  <a:srgbClr val="17211B"/>
                </a:solidFill>
                <a:latin typeface="Roboto" pitchFamily="34" charset="0"/>
                <a:ea typeface="Roboto" pitchFamily="34" charset="-122"/>
                <a:cs typeface="Roboto" pitchFamily="34" charset="-120"/>
              </a:rPr>
              <a:t>POS, ERP-lite, commerce tools</a:t>
            </a:r>
            <a:endParaRPr lang="en-US" sz="900" dirty="0"/>
          </a:p>
        </p:txBody>
      </p:sp>
      <p:sp>
        <p:nvSpPr>
          <p:cNvPr id="28" name="Text 25"/>
          <p:cNvSpPr/>
          <p:nvPr/>
        </p:nvSpPr>
        <p:spPr>
          <a:xfrm>
            <a:off x="8741664" y="4882896"/>
            <a:ext cx="2606040" cy="219456"/>
          </a:xfrm>
          <a:prstGeom prst="rect">
            <a:avLst/>
          </a:prstGeom>
          <a:noFill/>
          <a:ln/>
        </p:spPr>
        <p:txBody>
          <a:bodyPr wrap="square" lIns="0" tIns="0" rIns="0" bIns="0" rtlCol="0" anchor="ctr"/>
          <a:lstStyle/>
          <a:p>
            <a:pPr indent="0" marL="0">
              <a:buNone/>
            </a:pPr>
            <a:r>
              <a:rPr lang="en-US" sz="800" i="1" dirty="0">
                <a:solidFill>
                  <a:srgbClr val="66746B"/>
                </a:solidFill>
                <a:latin typeface="Roboto" pitchFamily="34" charset="0"/>
                <a:ea typeface="Roboto" pitchFamily="34" charset="-122"/>
                <a:cs typeface="Roboto" pitchFamily="34" charset="-120"/>
              </a:rPr>
              <a:t>Productivity and reach</a:t>
            </a:r>
            <a:endParaRPr lang="en-US" sz="800" dirty="0"/>
          </a:p>
        </p:txBody>
      </p:sp>
      <p:sp>
        <p:nvSpPr>
          <p:cNvPr id="29" name="Shape 26"/>
          <p:cNvSpPr/>
          <p:nvPr/>
        </p:nvSpPr>
        <p:spPr>
          <a:xfrm>
            <a:off x="7543800" y="4672584"/>
            <a:ext cx="1033272" cy="-1426464"/>
          </a:xfrm>
          <a:prstGeom prst="line">
            <a:avLst/>
          </a:prstGeom>
          <a:noFill/>
          <a:ln w="12700">
            <a:solidFill>
              <a:srgbClr val="D8DED8"/>
            </a:solidFill>
            <a:prstDash val="solid"/>
            <a:headEnd type="none"/>
            <a:tailEnd type="triangle"/>
          </a:ln>
        </p:spPr>
      </p:sp>
      <p:sp>
        <p:nvSpPr>
          <p:cNvPr id="30" name="Shape 27"/>
          <p:cNvSpPr/>
          <p:nvPr/>
        </p:nvSpPr>
        <p:spPr>
          <a:xfrm>
            <a:off x="4206240" y="4069080"/>
            <a:ext cx="3794760" cy="274320"/>
          </a:xfrm>
          <a:prstGeom prst="roundRect">
            <a:avLst>
              <a:gd name="adj" fmla="val 46667"/>
            </a:avLst>
          </a:prstGeom>
          <a:solidFill>
            <a:srgbClr val="DDE8DF"/>
          </a:solidFill>
          <a:ln w="12700">
            <a:solidFill>
              <a:srgbClr val="DDE8DF"/>
            </a:solidFill>
            <a:prstDash val="solid"/>
          </a:ln>
        </p:spPr>
      </p:sp>
      <p:sp>
        <p:nvSpPr>
          <p:cNvPr id="31" name="Text 28"/>
          <p:cNvSpPr/>
          <p:nvPr/>
        </p:nvSpPr>
        <p:spPr>
          <a:xfrm>
            <a:off x="4261104" y="4087368"/>
            <a:ext cx="368503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827.5k non-state enterprises</a:t>
            </a:r>
            <a:endParaRPr lang="en-US" sz="750" dirty="0"/>
          </a:p>
        </p:txBody>
      </p:sp>
      <p:sp>
        <p:nvSpPr>
          <p:cNvPr id="32" name="Shape 29"/>
          <p:cNvSpPr/>
          <p:nvPr/>
        </p:nvSpPr>
        <p:spPr>
          <a:xfrm>
            <a:off x="4206240" y="4498848"/>
            <a:ext cx="3794760" cy="274320"/>
          </a:xfrm>
          <a:prstGeom prst="roundRect">
            <a:avLst>
              <a:gd name="adj" fmla="val 46667"/>
            </a:avLst>
          </a:prstGeom>
          <a:solidFill>
            <a:srgbClr val="F2EBD6"/>
          </a:solidFill>
          <a:ln w="12700">
            <a:solidFill>
              <a:srgbClr val="F2EBD6"/>
            </a:solidFill>
            <a:prstDash val="solid"/>
          </a:ln>
        </p:spPr>
      </p:sp>
      <p:sp>
        <p:nvSpPr>
          <p:cNvPr id="33" name="Text 30"/>
          <p:cNvSpPr/>
          <p:nvPr/>
        </p:nvSpPr>
        <p:spPr>
          <a:xfrm>
            <a:off x="4261104" y="4517136"/>
            <a:ext cx="3685032" cy="219456"/>
          </a:xfrm>
          <a:prstGeom prst="rect">
            <a:avLst/>
          </a:prstGeom>
          <a:noFill/>
          <a:ln/>
        </p:spPr>
        <p:txBody>
          <a:bodyPr wrap="square" lIns="0" tIns="0" rIns="0" bIns="0" rtlCol="0" anchor="ctr"/>
          <a:lstStyle/>
          <a:p>
            <a:pPr algn="ctr" indent="0" marL="0">
              <a:buNone/>
            </a:pPr>
            <a:r>
              <a:rPr lang="en-US" sz="750" b="1" dirty="0">
                <a:solidFill>
                  <a:srgbClr val="8C7A3A"/>
                </a:solidFill>
                <a:latin typeface="Roboto" pitchFamily="34" charset="0"/>
                <a:ea typeface="Roboto" pitchFamily="34" charset="-122"/>
                <a:cs typeface="Roboto" pitchFamily="34" charset="-120"/>
              </a:rPr>
              <a:t>5.19m individual establishments</a:t>
            </a:r>
            <a:endParaRPr lang="en-US" sz="750" dirty="0"/>
          </a:p>
        </p:txBody>
      </p:sp>
      <p:sp>
        <p:nvSpPr>
          <p:cNvPr id="34" name="Shape 31"/>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35" name="Text 32"/>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Commercial implication: the strongest offers bundle mandatory compliance with an immediate business benefit—cash flow visibility, credit access or customer acquisition.</a:t>
            </a:r>
            <a:endParaRPr lang="en-US" sz="9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RISKS</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The thesis weakens if conversion raises the firm count without improving survival, scale or productivity</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NSO preliminary census; Sa.Partners assessment</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Text 5"/>
          <p:cNvSpPr/>
          <p:nvPr/>
        </p:nvSpPr>
        <p:spPr>
          <a:xfrm>
            <a:off x="594360" y="1389888"/>
            <a:ext cx="228600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RISK</a:t>
            </a:r>
            <a:endParaRPr lang="en-US" sz="850" dirty="0"/>
          </a:p>
        </p:txBody>
      </p:sp>
      <p:sp>
        <p:nvSpPr>
          <p:cNvPr id="9" name="Text 6"/>
          <p:cNvSpPr/>
          <p:nvPr/>
        </p:nvSpPr>
        <p:spPr>
          <a:xfrm>
            <a:off x="3063240" y="1389888"/>
            <a:ext cx="365760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MECHANISM</a:t>
            </a:r>
            <a:endParaRPr lang="en-US" sz="850" dirty="0"/>
          </a:p>
        </p:txBody>
      </p:sp>
      <p:sp>
        <p:nvSpPr>
          <p:cNvPr id="10" name="Text 7"/>
          <p:cNvSpPr/>
          <p:nvPr/>
        </p:nvSpPr>
        <p:spPr>
          <a:xfrm>
            <a:off x="7315200" y="1389888"/>
            <a:ext cx="256032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EARLY WARNING</a:t>
            </a:r>
            <a:endParaRPr lang="en-US" sz="850" dirty="0"/>
          </a:p>
        </p:txBody>
      </p:sp>
      <p:sp>
        <p:nvSpPr>
          <p:cNvPr id="11" name="Shape 8"/>
          <p:cNvSpPr/>
          <p:nvPr/>
        </p:nvSpPr>
        <p:spPr>
          <a:xfrm>
            <a:off x="530352" y="1737360"/>
            <a:ext cx="11109960" cy="493776"/>
          </a:xfrm>
          <a:prstGeom prst="roundRect">
            <a:avLst>
              <a:gd name="adj" fmla="val 11111"/>
            </a:avLst>
          </a:prstGeom>
          <a:solidFill>
            <a:srgbClr val="FBFAF3"/>
          </a:solidFill>
          <a:ln w="12700">
            <a:solidFill>
              <a:srgbClr val="D8DED8"/>
            </a:solidFill>
            <a:prstDash val="solid"/>
          </a:ln>
        </p:spPr>
      </p:sp>
      <p:sp>
        <p:nvSpPr>
          <p:cNvPr id="12" name="Text 9"/>
          <p:cNvSpPr/>
          <p:nvPr/>
        </p:nvSpPr>
        <p:spPr>
          <a:xfrm>
            <a:off x="694944" y="1810512"/>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Quantity without quality</a:t>
            </a:r>
            <a:endParaRPr lang="en-US" sz="900" dirty="0"/>
          </a:p>
        </p:txBody>
      </p:sp>
      <p:sp>
        <p:nvSpPr>
          <p:cNvPr id="13" name="Text 10"/>
          <p:cNvSpPr/>
          <p:nvPr/>
        </p:nvSpPr>
        <p:spPr>
          <a:xfrm>
            <a:off x="3063240" y="1810512"/>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Registrations rise; active stock and employment do not</a:t>
            </a:r>
            <a:endParaRPr lang="en-US" sz="850" dirty="0"/>
          </a:p>
        </p:txBody>
      </p:sp>
      <p:sp>
        <p:nvSpPr>
          <p:cNvPr id="14" name="Text 11"/>
          <p:cNvSpPr/>
          <p:nvPr/>
        </p:nvSpPr>
        <p:spPr>
          <a:xfrm>
            <a:off x="7315200" y="1810512"/>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Active/registered ratio</a:t>
            </a:r>
            <a:endParaRPr lang="en-US" sz="850" dirty="0"/>
          </a:p>
        </p:txBody>
      </p:sp>
      <p:sp>
        <p:nvSpPr>
          <p:cNvPr id="15" name="Shape 12"/>
          <p:cNvSpPr/>
          <p:nvPr/>
        </p:nvSpPr>
        <p:spPr>
          <a:xfrm>
            <a:off x="10104120" y="1847088"/>
            <a:ext cx="1188720" cy="274320"/>
          </a:xfrm>
          <a:prstGeom prst="roundRect">
            <a:avLst>
              <a:gd name="adj" fmla="val 46667"/>
            </a:avLst>
          </a:prstGeom>
          <a:solidFill>
            <a:srgbClr val="F6E2E0"/>
          </a:solidFill>
          <a:ln w="12700">
            <a:solidFill>
              <a:srgbClr val="F6E2E0"/>
            </a:solidFill>
            <a:prstDash val="solid"/>
          </a:ln>
        </p:spPr>
      </p:sp>
      <p:sp>
        <p:nvSpPr>
          <p:cNvPr id="16" name="Text 13"/>
          <p:cNvSpPr/>
          <p:nvPr/>
        </p:nvSpPr>
        <p:spPr>
          <a:xfrm>
            <a:off x="10158984" y="1865376"/>
            <a:ext cx="107899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HIGH</a:t>
            </a:r>
            <a:endParaRPr lang="en-US" sz="750" dirty="0"/>
          </a:p>
        </p:txBody>
      </p:sp>
      <p:sp>
        <p:nvSpPr>
          <p:cNvPr id="17" name="Shape 14"/>
          <p:cNvSpPr/>
          <p:nvPr/>
        </p:nvSpPr>
        <p:spPr>
          <a:xfrm>
            <a:off x="530352" y="2350008"/>
            <a:ext cx="11109960" cy="493776"/>
          </a:xfrm>
          <a:prstGeom prst="roundRect">
            <a:avLst>
              <a:gd name="adj" fmla="val 11111"/>
            </a:avLst>
          </a:prstGeom>
          <a:solidFill>
            <a:srgbClr val="FFFFFF"/>
          </a:solidFill>
          <a:ln w="12700">
            <a:solidFill>
              <a:srgbClr val="D8DED8"/>
            </a:solidFill>
            <a:prstDash val="solid"/>
          </a:ln>
        </p:spPr>
      </p:sp>
      <p:sp>
        <p:nvSpPr>
          <p:cNvPr id="18" name="Text 15"/>
          <p:cNvSpPr/>
          <p:nvPr/>
        </p:nvSpPr>
        <p:spPr>
          <a:xfrm>
            <a:off x="694944" y="2423160"/>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Compliance shock</a:t>
            </a:r>
            <a:endParaRPr lang="en-US" sz="900" dirty="0"/>
          </a:p>
        </p:txBody>
      </p:sp>
      <p:sp>
        <p:nvSpPr>
          <p:cNvPr id="19" name="Text 16"/>
          <p:cNvSpPr/>
          <p:nvPr/>
        </p:nvSpPr>
        <p:spPr>
          <a:xfrm>
            <a:off x="3063240" y="2423160"/>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Small firms revert, suspend or under-report after conversion</a:t>
            </a:r>
            <a:endParaRPr lang="en-US" sz="850" dirty="0"/>
          </a:p>
        </p:txBody>
      </p:sp>
      <p:sp>
        <p:nvSpPr>
          <p:cNvPr id="20" name="Text 17"/>
          <p:cNvSpPr/>
          <p:nvPr/>
        </p:nvSpPr>
        <p:spPr>
          <a:xfrm>
            <a:off x="7315200" y="2423160"/>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12–24 month survival</a:t>
            </a:r>
            <a:endParaRPr lang="en-US" sz="850" dirty="0"/>
          </a:p>
        </p:txBody>
      </p:sp>
      <p:sp>
        <p:nvSpPr>
          <p:cNvPr id="21" name="Shape 18"/>
          <p:cNvSpPr/>
          <p:nvPr/>
        </p:nvSpPr>
        <p:spPr>
          <a:xfrm>
            <a:off x="10104120" y="2459736"/>
            <a:ext cx="1188720" cy="274320"/>
          </a:xfrm>
          <a:prstGeom prst="roundRect">
            <a:avLst>
              <a:gd name="adj" fmla="val 46667"/>
            </a:avLst>
          </a:prstGeom>
          <a:solidFill>
            <a:srgbClr val="F6E2E0"/>
          </a:solidFill>
          <a:ln w="12700">
            <a:solidFill>
              <a:srgbClr val="F6E2E0"/>
            </a:solidFill>
            <a:prstDash val="solid"/>
          </a:ln>
        </p:spPr>
      </p:sp>
      <p:sp>
        <p:nvSpPr>
          <p:cNvPr id="22" name="Text 19"/>
          <p:cNvSpPr/>
          <p:nvPr/>
        </p:nvSpPr>
        <p:spPr>
          <a:xfrm>
            <a:off x="10158984" y="2478024"/>
            <a:ext cx="1078992" cy="219456"/>
          </a:xfrm>
          <a:prstGeom prst="rect">
            <a:avLst/>
          </a:prstGeom>
          <a:noFill/>
          <a:ln/>
        </p:spPr>
        <p:txBody>
          <a:bodyPr wrap="square" lIns="0" tIns="0" rIns="0" bIns="0" rtlCol="0" anchor="ctr"/>
          <a:lstStyle/>
          <a:p>
            <a:pPr algn="ctr" indent="0" marL="0">
              <a:buNone/>
            </a:pPr>
            <a:r>
              <a:rPr lang="en-US" sz="750" b="1" dirty="0">
                <a:solidFill>
                  <a:srgbClr val="B6423C"/>
                </a:solidFill>
                <a:latin typeface="Roboto" pitchFamily="34" charset="0"/>
                <a:ea typeface="Roboto" pitchFamily="34" charset="-122"/>
                <a:cs typeface="Roboto" pitchFamily="34" charset="-120"/>
              </a:rPr>
              <a:t>HIGH</a:t>
            </a:r>
            <a:endParaRPr lang="en-US" sz="750" dirty="0"/>
          </a:p>
        </p:txBody>
      </p:sp>
      <p:sp>
        <p:nvSpPr>
          <p:cNvPr id="23" name="Shape 20"/>
          <p:cNvSpPr/>
          <p:nvPr/>
        </p:nvSpPr>
        <p:spPr>
          <a:xfrm>
            <a:off x="530352" y="2962656"/>
            <a:ext cx="11109960" cy="493776"/>
          </a:xfrm>
          <a:prstGeom prst="roundRect">
            <a:avLst>
              <a:gd name="adj" fmla="val 11111"/>
            </a:avLst>
          </a:prstGeom>
          <a:solidFill>
            <a:srgbClr val="FBFAF3"/>
          </a:solidFill>
          <a:ln w="12700">
            <a:solidFill>
              <a:srgbClr val="D8DED8"/>
            </a:solidFill>
            <a:prstDash val="solid"/>
          </a:ln>
        </p:spPr>
      </p:sp>
      <p:sp>
        <p:nvSpPr>
          <p:cNvPr id="24" name="Text 21"/>
          <p:cNvSpPr/>
          <p:nvPr/>
        </p:nvSpPr>
        <p:spPr>
          <a:xfrm>
            <a:off x="694944" y="3035808"/>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Service-sector fragmentation</a:t>
            </a:r>
            <a:endParaRPr lang="en-US" sz="900" dirty="0"/>
          </a:p>
        </p:txBody>
      </p:sp>
      <p:sp>
        <p:nvSpPr>
          <p:cNvPr id="25" name="Text 22"/>
          <p:cNvSpPr/>
          <p:nvPr/>
        </p:nvSpPr>
        <p:spPr>
          <a:xfrm>
            <a:off x="3063240" y="3035808"/>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More firms remain low-value and subscale</a:t>
            </a:r>
            <a:endParaRPr lang="en-US" sz="850" dirty="0"/>
          </a:p>
        </p:txBody>
      </p:sp>
      <p:sp>
        <p:nvSpPr>
          <p:cNvPr id="26" name="Text 23"/>
          <p:cNvSpPr/>
          <p:nvPr/>
        </p:nvSpPr>
        <p:spPr>
          <a:xfrm>
            <a:off x="7315200" y="3035808"/>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Employees / non-state firm</a:t>
            </a:r>
            <a:endParaRPr lang="en-US" sz="850" dirty="0"/>
          </a:p>
        </p:txBody>
      </p:sp>
      <p:sp>
        <p:nvSpPr>
          <p:cNvPr id="27" name="Shape 24"/>
          <p:cNvSpPr/>
          <p:nvPr/>
        </p:nvSpPr>
        <p:spPr>
          <a:xfrm>
            <a:off x="10104120" y="3072384"/>
            <a:ext cx="1188720" cy="274320"/>
          </a:xfrm>
          <a:prstGeom prst="roundRect">
            <a:avLst>
              <a:gd name="adj" fmla="val 46667"/>
            </a:avLst>
          </a:prstGeom>
          <a:solidFill>
            <a:srgbClr val="F2EBD6"/>
          </a:solidFill>
          <a:ln w="12700">
            <a:solidFill>
              <a:srgbClr val="F2EBD6"/>
            </a:solidFill>
            <a:prstDash val="solid"/>
          </a:ln>
        </p:spPr>
      </p:sp>
      <p:sp>
        <p:nvSpPr>
          <p:cNvPr id="28" name="Text 25"/>
          <p:cNvSpPr/>
          <p:nvPr/>
        </p:nvSpPr>
        <p:spPr>
          <a:xfrm>
            <a:off x="10158984" y="3090672"/>
            <a:ext cx="1078992" cy="219456"/>
          </a:xfrm>
          <a:prstGeom prst="rect">
            <a:avLst/>
          </a:prstGeom>
          <a:noFill/>
          <a:ln/>
        </p:spPr>
        <p:txBody>
          <a:bodyPr wrap="square" lIns="0" tIns="0" rIns="0" bIns="0" rtlCol="0" anchor="ctr"/>
          <a:lstStyle/>
          <a:p>
            <a:pPr algn="ctr" indent="0" marL="0">
              <a:buNone/>
            </a:pPr>
            <a:r>
              <a:rPr lang="en-US" sz="750" b="1" dirty="0">
                <a:solidFill>
                  <a:srgbClr val="D09B2C"/>
                </a:solidFill>
                <a:latin typeface="Roboto" pitchFamily="34" charset="0"/>
                <a:ea typeface="Roboto" pitchFamily="34" charset="-122"/>
                <a:cs typeface="Roboto" pitchFamily="34" charset="-120"/>
              </a:rPr>
              <a:t>MEDIUM</a:t>
            </a:r>
            <a:endParaRPr lang="en-US" sz="750" dirty="0"/>
          </a:p>
        </p:txBody>
      </p:sp>
      <p:sp>
        <p:nvSpPr>
          <p:cNvPr id="29" name="Shape 26"/>
          <p:cNvSpPr/>
          <p:nvPr/>
        </p:nvSpPr>
        <p:spPr>
          <a:xfrm>
            <a:off x="530352" y="3575304"/>
            <a:ext cx="11109960" cy="493776"/>
          </a:xfrm>
          <a:prstGeom prst="roundRect">
            <a:avLst>
              <a:gd name="adj" fmla="val 11111"/>
            </a:avLst>
          </a:prstGeom>
          <a:solidFill>
            <a:srgbClr val="FFFFFF"/>
          </a:solidFill>
          <a:ln w="12700">
            <a:solidFill>
              <a:srgbClr val="D8DED8"/>
            </a:solidFill>
            <a:prstDash val="solid"/>
          </a:ln>
        </p:spPr>
      </p:sp>
      <p:sp>
        <p:nvSpPr>
          <p:cNvPr id="30" name="Text 27"/>
          <p:cNvSpPr/>
          <p:nvPr/>
        </p:nvSpPr>
        <p:spPr>
          <a:xfrm>
            <a:off x="694944" y="3648456"/>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Industrial softness</a:t>
            </a:r>
            <a:endParaRPr lang="en-US" sz="900" dirty="0"/>
          </a:p>
        </p:txBody>
      </p:sp>
      <p:sp>
        <p:nvSpPr>
          <p:cNvPr id="31" name="Text 28"/>
          <p:cNvSpPr/>
          <p:nvPr/>
        </p:nvSpPr>
        <p:spPr>
          <a:xfrm>
            <a:off x="3063240" y="3648456"/>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2025 industry-firm decline becomes persistent</a:t>
            </a:r>
            <a:endParaRPr lang="en-US" sz="850" dirty="0"/>
          </a:p>
        </p:txBody>
      </p:sp>
      <p:sp>
        <p:nvSpPr>
          <p:cNvPr id="32" name="Text 29"/>
          <p:cNvSpPr/>
          <p:nvPr/>
        </p:nvSpPr>
        <p:spPr>
          <a:xfrm>
            <a:off x="7315200" y="3648456"/>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Industry firm count YoY</a:t>
            </a:r>
            <a:endParaRPr lang="en-US" sz="850" dirty="0"/>
          </a:p>
        </p:txBody>
      </p:sp>
      <p:sp>
        <p:nvSpPr>
          <p:cNvPr id="33" name="Shape 30"/>
          <p:cNvSpPr/>
          <p:nvPr/>
        </p:nvSpPr>
        <p:spPr>
          <a:xfrm>
            <a:off x="10104120" y="3685032"/>
            <a:ext cx="1188720" cy="274320"/>
          </a:xfrm>
          <a:prstGeom prst="roundRect">
            <a:avLst>
              <a:gd name="adj" fmla="val 46667"/>
            </a:avLst>
          </a:prstGeom>
          <a:solidFill>
            <a:srgbClr val="F2EBD6"/>
          </a:solidFill>
          <a:ln w="12700">
            <a:solidFill>
              <a:srgbClr val="F2EBD6"/>
            </a:solidFill>
            <a:prstDash val="solid"/>
          </a:ln>
        </p:spPr>
      </p:sp>
      <p:sp>
        <p:nvSpPr>
          <p:cNvPr id="34" name="Text 31"/>
          <p:cNvSpPr/>
          <p:nvPr/>
        </p:nvSpPr>
        <p:spPr>
          <a:xfrm>
            <a:off x="10158984" y="3703320"/>
            <a:ext cx="1078992" cy="219456"/>
          </a:xfrm>
          <a:prstGeom prst="rect">
            <a:avLst/>
          </a:prstGeom>
          <a:noFill/>
          <a:ln/>
        </p:spPr>
        <p:txBody>
          <a:bodyPr wrap="square" lIns="0" tIns="0" rIns="0" bIns="0" rtlCol="0" anchor="ctr"/>
          <a:lstStyle/>
          <a:p>
            <a:pPr algn="ctr" indent="0" marL="0">
              <a:buNone/>
            </a:pPr>
            <a:r>
              <a:rPr lang="en-US" sz="750" b="1" dirty="0">
                <a:solidFill>
                  <a:srgbClr val="D09B2C"/>
                </a:solidFill>
                <a:latin typeface="Roboto" pitchFamily="34" charset="0"/>
                <a:ea typeface="Roboto" pitchFamily="34" charset="-122"/>
                <a:cs typeface="Roboto" pitchFamily="34" charset="-120"/>
              </a:rPr>
              <a:t>MEDIUM</a:t>
            </a:r>
            <a:endParaRPr lang="en-US" sz="750" dirty="0"/>
          </a:p>
        </p:txBody>
      </p:sp>
      <p:sp>
        <p:nvSpPr>
          <p:cNvPr id="35" name="Shape 32"/>
          <p:cNvSpPr/>
          <p:nvPr/>
        </p:nvSpPr>
        <p:spPr>
          <a:xfrm>
            <a:off x="530352" y="4187952"/>
            <a:ext cx="11109960" cy="493776"/>
          </a:xfrm>
          <a:prstGeom prst="roundRect">
            <a:avLst>
              <a:gd name="adj" fmla="val 11111"/>
            </a:avLst>
          </a:prstGeom>
          <a:solidFill>
            <a:srgbClr val="FBFAF3"/>
          </a:solidFill>
          <a:ln w="12700">
            <a:solidFill>
              <a:srgbClr val="D8DED8"/>
            </a:solidFill>
            <a:prstDash val="solid"/>
          </a:ln>
        </p:spPr>
      </p:sp>
      <p:sp>
        <p:nvSpPr>
          <p:cNvPr id="36" name="Text 33"/>
          <p:cNvSpPr/>
          <p:nvPr/>
        </p:nvSpPr>
        <p:spPr>
          <a:xfrm>
            <a:off x="694944" y="4261104"/>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Regional divergence</a:t>
            </a:r>
            <a:endParaRPr lang="en-US" sz="900" dirty="0"/>
          </a:p>
        </p:txBody>
      </p:sp>
      <p:sp>
        <p:nvSpPr>
          <p:cNvPr id="37" name="Text 34"/>
          <p:cNvSpPr/>
          <p:nvPr/>
        </p:nvSpPr>
        <p:spPr>
          <a:xfrm>
            <a:off x="3063240" y="4261104"/>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Growth concentrates where support capacity is already strongest</a:t>
            </a:r>
            <a:endParaRPr lang="en-US" sz="850" dirty="0"/>
          </a:p>
        </p:txBody>
      </p:sp>
      <p:sp>
        <p:nvSpPr>
          <p:cNvPr id="38" name="Text 35"/>
          <p:cNvSpPr/>
          <p:nvPr/>
        </p:nvSpPr>
        <p:spPr>
          <a:xfrm>
            <a:off x="7315200" y="4261104"/>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Frontier survival gap</a:t>
            </a:r>
            <a:endParaRPr lang="en-US" sz="850" dirty="0"/>
          </a:p>
        </p:txBody>
      </p:sp>
      <p:sp>
        <p:nvSpPr>
          <p:cNvPr id="39" name="Shape 36"/>
          <p:cNvSpPr/>
          <p:nvPr/>
        </p:nvSpPr>
        <p:spPr>
          <a:xfrm>
            <a:off x="10104120" y="4297680"/>
            <a:ext cx="1188720" cy="274320"/>
          </a:xfrm>
          <a:prstGeom prst="roundRect">
            <a:avLst>
              <a:gd name="adj" fmla="val 46667"/>
            </a:avLst>
          </a:prstGeom>
          <a:solidFill>
            <a:srgbClr val="F2EBD6"/>
          </a:solidFill>
          <a:ln w="12700">
            <a:solidFill>
              <a:srgbClr val="F2EBD6"/>
            </a:solidFill>
            <a:prstDash val="solid"/>
          </a:ln>
        </p:spPr>
      </p:sp>
      <p:sp>
        <p:nvSpPr>
          <p:cNvPr id="40" name="Text 37"/>
          <p:cNvSpPr/>
          <p:nvPr/>
        </p:nvSpPr>
        <p:spPr>
          <a:xfrm>
            <a:off x="10158984" y="4315968"/>
            <a:ext cx="1078992" cy="219456"/>
          </a:xfrm>
          <a:prstGeom prst="rect">
            <a:avLst/>
          </a:prstGeom>
          <a:noFill/>
          <a:ln/>
        </p:spPr>
        <p:txBody>
          <a:bodyPr wrap="square" lIns="0" tIns="0" rIns="0" bIns="0" rtlCol="0" anchor="ctr"/>
          <a:lstStyle/>
          <a:p>
            <a:pPr algn="ctr" indent="0" marL="0">
              <a:buNone/>
            </a:pPr>
            <a:r>
              <a:rPr lang="en-US" sz="750" b="1" dirty="0">
                <a:solidFill>
                  <a:srgbClr val="D09B2C"/>
                </a:solidFill>
                <a:latin typeface="Roboto" pitchFamily="34" charset="0"/>
                <a:ea typeface="Roboto" pitchFamily="34" charset="-122"/>
                <a:cs typeface="Roboto" pitchFamily="34" charset="-120"/>
              </a:rPr>
              <a:t>MEDIUM</a:t>
            </a:r>
            <a:endParaRPr lang="en-US" sz="750" dirty="0"/>
          </a:p>
        </p:txBody>
      </p:sp>
      <p:sp>
        <p:nvSpPr>
          <p:cNvPr id="41" name="Shape 38"/>
          <p:cNvSpPr/>
          <p:nvPr/>
        </p:nvSpPr>
        <p:spPr>
          <a:xfrm>
            <a:off x="530352" y="4800600"/>
            <a:ext cx="11109960" cy="493776"/>
          </a:xfrm>
          <a:prstGeom prst="roundRect">
            <a:avLst>
              <a:gd name="adj" fmla="val 11111"/>
            </a:avLst>
          </a:prstGeom>
          <a:solidFill>
            <a:srgbClr val="FFFFFF"/>
          </a:solidFill>
          <a:ln w="12700">
            <a:solidFill>
              <a:srgbClr val="D8DED8"/>
            </a:solidFill>
            <a:prstDash val="solid"/>
          </a:ln>
        </p:spPr>
      </p:sp>
      <p:sp>
        <p:nvSpPr>
          <p:cNvPr id="42" name="Text 39"/>
          <p:cNvSpPr/>
          <p:nvPr/>
        </p:nvSpPr>
        <p:spPr>
          <a:xfrm>
            <a:off x="694944" y="4873752"/>
            <a:ext cx="2148840" cy="310896"/>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Statistical revision</a:t>
            </a:r>
            <a:endParaRPr lang="en-US" sz="900" dirty="0"/>
          </a:p>
        </p:txBody>
      </p:sp>
      <p:sp>
        <p:nvSpPr>
          <p:cNvPr id="43" name="Text 40"/>
          <p:cNvSpPr/>
          <p:nvPr/>
        </p:nvSpPr>
        <p:spPr>
          <a:xfrm>
            <a:off x="3063240" y="4873752"/>
            <a:ext cx="3886200" cy="310896"/>
          </a:xfrm>
          <a:prstGeom prst="rect">
            <a:avLst/>
          </a:prstGeom>
          <a:noFill/>
          <a:ln/>
        </p:spPr>
        <p:txBody>
          <a:bodyPr wrap="square" lIns="0" tIns="0" rIns="0" bIns="0" rtlCol="0" anchor="ctr"/>
          <a:lstStyle/>
          <a:p>
            <a:pPr indent="0" marL="0">
              <a:buNone/>
            </a:pPr>
            <a:r>
              <a:rPr lang="en-US" sz="850" dirty="0">
                <a:solidFill>
                  <a:srgbClr val="17211B"/>
                </a:solidFill>
                <a:latin typeface="Roboto" pitchFamily="34" charset="0"/>
                <a:ea typeface="Roboto" pitchFamily="34" charset="-122"/>
                <a:cs typeface="Roboto" pitchFamily="34" charset="-120"/>
              </a:rPr>
              <a:t>Final Dec-2026 results alter the preliminary baseline</a:t>
            </a:r>
            <a:endParaRPr lang="en-US" sz="850" dirty="0"/>
          </a:p>
        </p:txBody>
      </p:sp>
      <p:sp>
        <p:nvSpPr>
          <p:cNvPr id="44" name="Text 41"/>
          <p:cNvSpPr/>
          <p:nvPr/>
        </p:nvSpPr>
        <p:spPr>
          <a:xfrm>
            <a:off x="7315200" y="4873752"/>
            <a:ext cx="2514600" cy="310896"/>
          </a:xfrm>
          <a:prstGeom prst="rect">
            <a:avLst/>
          </a:prstGeom>
          <a:noFill/>
          <a:ln/>
        </p:spPr>
        <p:txBody>
          <a:bodyPr wrap="square" lIns="0" tIns="0" rIns="0" bIns="0" rtlCol="0" anchor="ctr"/>
          <a:lstStyle/>
          <a:p>
            <a:pPr indent="0" marL="0">
              <a:buNone/>
            </a:pPr>
            <a:r>
              <a:rPr lang="en-US" sz="850" dirty="0">
                <a:solidFill>
                  <a:srgbClr val="66746B"/>
                </a:solidFill>
                <a:latin typeface="Roboto" pitchFamily="34" charset="0"/>
                <a:ea typeface="Roboto" pitchFamily="34" charset="-122"/>
                <a:cs typeface="Roboto" pitchFamily="34" charset="-120"/>
              </a:rPr>
              <a:t>Official revision size</a:t>
            </a:r>
            <a:endParaRPr lang="en-US" sz="850" dirty="0"/>
          </a:p>
        </p:txBody>
      </p:sp>
      <p:sp>
        <p:nvSpPr>
          <p:cNvPr id="45" name="Shape 42"/>
          <p:cNvSpPr/>
          <p:nvPr/>
        </p:nvSpPr>
        <p:spPr>
          <a:xfrm>
            <a:off x="10104120" y="4910328"/>
            <a:ext cx="1188720" cy="274320"/>
          </a:xfrm>
          <a:prstGeom prst="roundRect">
            <a:avLst>
              <a:gd name="adj" fmla="val 46667"/>
            </a:avLst>
          </a:prstGeom>
          <a:solidFill>
            <a:srgbClr val="F2EBD6"/>
          </a:solidFill>
          <a:ln w="12700">
            <a:solidFill>
              <a:srgbClr val="F2EBD6"/>
            </a:solidFill>
            <a:prstDash val="solid"/>
          </a:ln>
        </p:spPr>
      </p:sp>
      <p:sp>
        <p:nvSpPr>
          <p:cNvPr id="46" name="Text 43"/>
          <p:cNvSpPr/>
          <p:nvPr/>
        </p:nvSpPr>
        <p:spPr>
          <a:xfrm>
            <a:off x="10158984" y="4928616"/>
            <a:ext cx="1078992" cy="219456"/>
          </a:xfrm>
          <a:prstGeom prst="rect">
            <a:avLst/>
          </a:prstGeom>
          <a:noFill/>
          <a:ln/>
        </p:spPr>
        <p:txBody>
          <a:bodyPr wrap="square" lIns="0" tIns="0" rIns="0" bIns="0" rtlCol="0" anchor="ctr"/>
          <a:lstStyle/>
          <a:p>
            <a:pPr algn="ctr" indent="0" marL="0">
              <a:buNone/>
            </a:pPr>
            <a:r>
              <a:rPr lang="en-US" sz="750" b="1" dirty="0">
                <a:solidFill>
                  <a:srgbClr val="8C7A3A"/>
                </a:solidFill>
                <a:latin typeface="Roboto" pitchFamily="34" charset="0"/>
                <a:ea typeface="Roboto" pitchFamily="34" charset="-122"/>
                <a:cs typeface="Roboto" pitchFamily="34" charset="-120"/>
              </a:rPr>
              <a:t>WATCH</a:t>
            </a:r>
            <a:endParaRPr lang="en-US" sz="750" dirty="0"/>
          </a:p>
        </p:txBody>
      </p:sp>
      <p:sp>
        <p:nvSpPr>
          <p:cNvPr id="47" name="Shape 44"/>
          <p:cNvSpPr/>
          <p:nvPr/>
        </p:nvSpPr>
        <p:spPr>
          <a:xfrm>
            <a:off x="457200" y="5669280"/>
            <a:ext cx="11274552" cy="493776"/>
          </a:xfrm>
          <a:prstGeom prst="roundRect">
            <a:avLst>
              <a:gd name="adj" fmla="val 9259"/>
            </a:avLst>
          </a:prstGeom>
          <a:solidFill>
            <a:srgbClr val="F6E2E0"/>
          </a:solidFill>
          <a:ln w="12700">
            <a:solidFill>
              <a:srgbClr val="B6423C"/>
            </a:solidFill>
            <a:prstDash val="solid"/>
          </a:ln>
        </p:spPr>
      </p:sp>
      <p:sp>
        <p:nvSpPr>
          <p:cNvPr id="48" name="Text 45"/>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B6423C"/>
                </a:solidFill>
                <a:latin typeface="Roboto" pitchFamily="34" charset="0"/>
                <a:ea typeface="Roboto" pitchFamily="34" charset="-122"/>
                <a:cs typeface="Roboto" pitchFamily="34" charset="-120"/>
              </a:rPr>
              <a:t>The most decision-useful metric is not gross registrations; it is the cohort survival and scale progression of firms created or converted after Nghị quyết 68.</a:t>
            </a:r>
            <a:endParaRPr lang="en-US" sz="9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MONITORING DASHBOARD</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Seven indicators will show whether Vietnam is building more firms—or merely recording more registrations</a:t>
            </a:r>
            <a:endParaRPr lang="en-US" sz="18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Monitoring framework by Sa.Partners; baselines from NSO preliminary census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Text 5"/>
          <p:cNvSpPr/>
          <p:nvPr/>
        </p:nvSpPr>
        <p:spPr>
          <a:xfrm>
            <a:off x="594360" y="1371600"/>
            <a:ext cx="2926080" cy="237744"/>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INDICATOR</a:t>
            </a:r>
            <a:endParaRPr lang="en-US" sz="850" dirty="0"/>
          </a:p>
        </p:txBody>
      </p:sp>
      <p:sp>
        <p:nvSpPr>
          <p:cNvPr id="9" name="Text 6"/>
          <p:cNvSpPr/>
          <p:nvPr/>
        </p:nvSpPr>
        <p:spPr>
          <a:xfrm>
            <a:off x="3749040" y="1371600"/>
            <a:ext cx="1234440" cy="237744"/>
          </a:xfrm>
          <a:prstGeom prst="rect">
            <a:avLst/>
          </a:prstGeom>
          <a:noFill/>
          <a:ln/>
        </p:spPr>
        <p:txBody>
          <a:bodyPr wrap="square" lIns="0" tIns="0" rIns="0" bIns="0" rtlCol="0" anchor="ctr"/>
          <a:lstStyle/>
          <a:p>
            <a:pPr algn="ctr" indent="0" marL="0">
              <a:buNone/>
            </a:pPr>
            <a:r>
              <a:rPr lang="en-US" sz="850" b="1" dirty="0">
                <a:solidFill>
                  <a:srgbClr val="66746B"/>
                </a:solidFill>
                <a:latin typeface="Roboto" pitchFamily="34" charset="0"/>
                <a:ea typeface="Roboto" pitchFamily="34" charset="-122"/>
                <a:cs typeface="Roboto" pitchFamily="34" charset="-120"/>
              </a:rPr>
              <a:t>BASELINE</a:t>
            </a:r>
            <a:endParaRPr lang="en-US" sz="850" dirty="0"/>
          </a:p>
        </p:txBody>
      </p:sp>
      <p:sp>
        <p:nvSpPr>
          <p:cNvPr id="10" name="Text 7"/>
          <p:cNvSpPr/>
          <p:nvPr/>
        </p:nvSpPr>
        <p:spPr>
          <a:xfrm>
            <a:off x="5303520" y="1371600"/>
            <a:ext cx="3840480" cy="237744"/>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THESIS-CONFIRMING DIRECTION</a:t>
            </a:r>
            <a:endParaRPr lang="en-US" sz="850" dirty="0"/>
          </a:p>
        </p:txBody>
      </p:sp>
      <p:sp>
        <p:nvSpPr>
          <p:cNvPr id="11" name="Shape 8"/>
          <p:cNvSpPr/>
          <p:nvPr/>
        </p:nvSpPr>
        <p:spPr>
          <a:xfrm>
            <a:off x="530352" y="1700784"/>
            <a:ext cx="11109960" cy="438912"/>
          </a:xfrm>
          <a:prstGeom prst="roundRect">
            <a:avLst>
              <a:gd name="adj" fmla="val 12500"/>
            </a:avLst>
          </a:prstGeom>
          <a:solidFill>
            <a:srgbClr val="FBFAF3"/>
          </a:solidFill>
          <a:ln w="12700">
            <a:solidFill>
              <a:srgbClr val="D8DED8"/>
            </a:solidFill>
            <a:prstDash val="solid"/>
          </a:ln>
        </p:spPr>
      </p:sp>
      <p:sp>
        <p:nvSpPr>
          <p:cNvPr id="12" name="Text 9"/>
          <p:cNvSpPr/>
          <p:nvPr/>
        </p:nvSpPr>
        <p:spPr>
          <a:xfrm>
            <a:off x="713232" y="1755648"/>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Active enterprise stock</a:t>
            </a:r>
            <a:endParaRPr lang="en-US" sz="900" dirty="0"/>
          </a:p>
        </p:txBody>
      </p:sp>
      <p:sp>
        <p:nvSpPr>
          <p:cNvPr id="13" name="Text 10"/>
          <p:cNvSpPr/>
          <p:nvPr/>
        </p:nvSpPr>
        <p:spPr>
          <a:xfrm>
            <a:off x="3749040" y="1755648"/>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859k</a:t>
            </a:r>
            <a:endParaRPr lang="en-US" sz="1000" dirty="0"/>
          </a:p>
        </p:txBody>
      </p:sp>
      <p:sp>
        <p:nvSpPr>
          <p:cNvPr id="14" name="Text 11"/>
          <p:cNvSpPr/>
          <p:nvPr/>
        </p:nvSpPr>
        <p:spPr>
          <a:xfrm>
            <a:off x="5303520" y="1755648"/>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≥18% p.a. if target-aligned</a:t>
            </a:r>
            <a:endParaRPr lang="en-US" sz="880" dirty="0"/>
          </a:p>
        </p:txBody>
      </p:sp>
      <p:sp>
        <p:nvSpPr>
          <p:cNvPr id="15" name="Shape 12"/>
          <p:cNvSpPr/>
          <p:nvPr/>
        </p:nvSpPr>
        <p:spPr>
          <a:xfrm>
            <a:off x="9802368" y="1783080"/>
            <a:ext cx="1417320" cy="274320"/>
          </a:xfrm>
          <a:prstGeom prst="roundRect">
            <a:avLst>
              <a:gd name="adj" fmla="val 46667"/>
            </a:avLst>
          </a:prstGeom>
          <a:solidFill>
            <a:srgbClr val="DDE8DF"/>
          </a:solidFill>
          <a:ln w="12700">
            <a:solidFill>
              <a:srgbClr val="DDE8DF"/>
            </a:solidFill>
            <a:prstDash val="solid"/>
          </a:ln>
        </p:spPr>
      </p:sp>
      <p:sp>
        <p:nvSpPr>
          <p:cNvPr id="16" name="Text 13"/>
          <p:cNvSpPr/>
          <p:nvPr/>
        </p:nvSpPr>
        <p:spPr>
          <a:xfrm>
            <a:off x="9857232" y="1801368"/>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COUNT</a:t>
            </a:r>
            <a:endParaRPr lang="en-US" sz="750" dirty="0"/>
          </a:p>
        </p:txBody>
      </p:sp>
      <p:sp>
        <p:nvSpPr>
          <p:cNvPr id="17" name="Shape 14"/>
          <p:cNvSpPr/>
          <p:nvPr/>
        </p:nvSpPr>
        <p:spPr>
          <a:xfrm>
            <a:off x="530352" y="2240280"/>
            <a:ext cx="11109960" cy="438912"/>
          </a:xfrm>
          <a:prstGeom prst="roundRect">
            <a:avLst>
              <a:gd name="adj" fmla="val 12500"/>
            </a:avLst>
          </a:prstGeom>
          <a:solidFill>
            <a:srgbClr val="FFFFFF"/>
          </a:solidFill>
          <a:ln w="12700">
            <a:solidFill>
              <a:srgbClr val="D8DED8"/>
            </a:solidFill>
            <a:prstDash val="solid"/>
          </a:ln>
        </p:spPr>
      </p:sp>
      <p:sp>
        <p:nvSpPr>
          <p:cNvPr id="18" name="Text 15"/>
          <p:cNvSpPr/>
          <p:nvPr/>
        </p:nvSpPr>
        <p:spPr>
          <a:xfrm>
            <a:off x="713232" y="2295144"/>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Active / surveyed ratio</a:t>
            </a:r>
            <a:endParaRPr lang="en-US" sz="900" dirty="0"/>
          </a:p>
        </p:txBody>
      </p:sp>
      <p:sp>
        <p:nvSpPr>
          <p:cNvPr id="19" name="Text 16"/>
          <p:cNvSpPr/>
          <p:nvPr/>
        </p:nvSpPr>
        <p:spPr>
          <a:xfrm>
            <a:off x="3749040" y="2295144"/>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70.4%</a:t>
            </a:r>
            <a:endParaRPr lang="en-US" sz="1000" dirty="0"/>
          </a:p>
        </p:txBody>
      </p:sp>
      <p:sp>
        <p:nvSpPr>
          <p:cNvPr id="20" name="Text 17"/>
          <p:cNvSpPr/>
          <p:nvPr/>
        </p:nvSpPr>
        <p:spPr>
          <a:xfrm>
            <a:off x="5303520" y="2295144"/>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Rising</a:t>
            </a:r>
            <a:endParaRPr lang="en-US" sz="880" dirty="0"/>
          </a:p>
        </p:txBody>
      </p:sp>
      <p:sp>
        <p:nvSpPr>
          <p:cNvPr id="21" name="Shape 18"/>
          <p:cNvSpPr/>
          <p:nvPr/>
        </p:nvSpPr>
        <p:spPr>
          <a:xfrm>
            <a:off x="9802368" y="2322576"/>
            <a:ext cx="1417320" cy="274320"/>
          </a:xfrm>
          <a:prstGeom prst="roundRect">
            <a:avLst>
              <a:gd name="adj" fmla="val 46667"/>
            </a:avLst>
          </a:prstGeom>
          <a:solidFill>
            <a:srgbClr val="DDE8DF"/>
          </a:solidFill>
          <a:ln w="12700">
            <a:solidFill>
              <a:srgbClr val="DDE8DF"/>
            </a:solidFill>
            <a:prstDash val="solid"/>
          </a:ln>
        </p:spPr>
      </p:sp>
      <p:sp>
        <p:nvSpPr>
          <p:cNvPr id="22" name="Text 19"/>
          <p:cNvSpPr/>
          <p:nvPr/>
        </p:nvSpPr>
        <p:spPr>
          <a:xfrm>
            <a:off x="9857232" y="2340864"/>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SURVIVAL</a:t>
            </a:r>
            <a:endParaRPr lang="en-US" sz="750" dirty="0"/>
          </a:p>
        </p:txBody>
      </p:sp>
      <p:sp>
        <p:nvSpPr>
          <p:cNvPr id="23" name="Shape 20"/>
          <p:cNvSpPr/>
          <p:nvPr/>
        </p:nvSpPr>
        <p:spPr>
          <a:xfrm>
            <a:off x="530352" y="2779776"/>
            <a:ext cx="11109960" cy="438912"/>
          </a:xfrm>
          <a:prstGeom prst="roundRect">
            <a:avLst>
              <a:gd name="adj" fmla="val 12500"/>
            </a:avLst>
          </a:prstGeom>
          <a:solidFill>
            <a:srgbClr val="FBFAF3"/>
          </a:solidFill>
          <a:ln w="12700">
            <a:solidFill>
              <a:srgbClr val="D8DED8"/>
            </a:solidFill>
            <a:prstDash val="solid"/>
          </a:ln>
        </p:spPr>
      </p:sp>
      <p:sp>
        <p:nvSpPr>
          <p:cNvPr id="24" name="Text 21"/>
          <p:cNvSpPr/>
          <p:nvPr/>
        </p:nvSpPr>
        <p:spPr>
          <a:xfrm>
            <a:off x="713232" y="2834640"/>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Household establishments</a:t>
            </a:r>
            <a:endParaRPr lang="en-US" sz="900" dirty="0"/>
          </a:p>
        </p:txBody>
      </p:sp>
      <p:sp>
        <p:nvSpPr>
          <p:cNvPr id="25" name="Text 22"/>
          <p:cNvSpPr/>
          <p:nvPr/>
        </p:nvSpPr>
        <p:spPr>
          <a:xfrm>
            <a:off x="3749040" y="2834640"/>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5.19m</a:t>
            </a:r>
            <a:endParaRPr lang="en-US" sz="1000" dirty="0"/>
          </a:p>
        </p:txBody>
      </p:sp>
      <p:sp>
        <p:nvSpPr>
          <p:cNvPr id="26" name="Text 23"/>
          <p:cNvSpPr/>
          <p:nvPr/>
        </p:nvSpPr>
        <p:spPr>
          <a:xfrm>
            <a:off x="5303520" y="2834640"/>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Orderly decline via conversion</a:t>
            </a:r>
            <a:endParaRPr lang="en-US" sz="880" dirty="0"/>
          </a:p>
        </p:txBody>
      </p:sp>
      <p:sp>
        <p:nvSpPr>
          <p:cNvPr id="27" name="Shape 24"/>
          <p:cNvSpPr/>
          <p:nvPr/>
        </p:nvSpPr>
        <p:spPr>
          <a:xfrm>
            <a:off x="9802368" y="2862072"/>
            <a:ext cx="1417320" cy="274320"/>
          </a:xfrm>
          <a:prstGeom prst="roundRect">
            <a:avLst>
              <a:gd name="adj" fmla="val 46667"/>
            </a:avLst>
          </a:prstGeom>
          <a:solidFill>
            <a:srgbClr val="DDE8DF"/>
          </a:solidFill>
          <a:ln w="12700">
            <a:solidFill>
              <a:srgbClr val="DDE8DF"/>
            </a:solidFill>
            <a:prstDash val="solid"/>
          </a:ln>
        </p:spPr>
      </p:sp>
      <p:sp>
        <p:nvSpPr>
          <p:cNvPr id="28" name="Text 25"/>
          <p:cNvSpPr/>
          <p:nvPr/>
        </p:nvSpPr>
        <p:spPr>
          <a:xfrm>
            <a:off x="9857232" y="2880360"/>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FORMALIZE</a:t>
            </a:r>
            <a:endParaRPr lang="en-US" sz="750" dirty="0"/>
          </a:p>
        </p:txBody>
      </p:sp>
      <p:sp>
        <p:nvSpPr>
          <p:cNvPr id="29" name="Shape 26"/>
          <p:cNvSpPr/>
          <p:nvPr/>
        </p:nvSpPr>
        <p:spPr>
          <a:xfrm>
            <a:off x="530352" y="3319272"/>
            <a:ext cx="11109960" cy="438912"/>
          </a:xfrm>
          <a:prstGeom prst="roundRect">
            <a:avLst>
              <a:gd name="adj" fmla="val 12500"/>
            </a:avLst>
          </a:prstGeom>
          <a:solidFill>
            <a:srgbClr val="FFFFFF"/>
          </a:solidFill>
          <a:ln w="12700">
            <a:solidFill>
              <a:srgbClr val="D8DED8"/>
            </a:solidFill>
            <a:prstDash val="solid"/>
          </a:ln>
        </p:spPr>
      </p:sp>
      <p:sp>
        <p:nvSpPr>
          <p:cNvPr id="30" name="Text 27"/>
          <p:cNvSpPr/>
          <p:nvPr/>
        </p:nvSpPr>
        <p:spPr>
          <a:xfrm>
            <a:off x="713232" y="3374136"/>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Non-state employees / firm</a:t>
            </a:r>
            <a:endParaRPr lang="en-US" sz="900" dirty="0"/>
          </a:p>
        </p:txBody>
      </p:sp>
      <p:sp>
        <p:nvSpPr>
          <p:cNvPr id="31" name="Text 28"/>
          <p:cNvSpPr/>
          <p:nvPr/>
        </p:nvSpPr>
        <p:spPr>
          <a:xfrm>
            <a:off x="3749040" y="3374136"/>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12.6</a:t>
            </a:r>
            <a:endParaRPr lang="en-US" sz="1000" dirty="0"/>
          </a:p>
        </p:txBody>
      </p:sp>
      <p:sp>
        <p:nvSpPr>
          <p:cNvPr id="32" name="Text 29"/>
          <p:cNvSpPr/>
          <p:nvPr/>
        </p:nvSpPr>
        <p:spPr>
          <a:xfrm>
            <a:off x="5303520" y="3374136"/>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Sustained increase</a:t>
            </a:r>
            <a:endParaRPr lang="en-US" sz="880" dirty="0"/>
          </a:p>
        </p:txBody>
      </p:sp>
      <p:sp>
        <p:nvSpPr>
          <p:cNvPr id="33" name="Shape 30"/>
          <p:cNvSpPr/>
          <p:nvPr/>
        </p:nvSpPr>
        <p:spPr>
          <a:xfrm>
            <a:off x="9802368" y="3401568"/>
            <a:ext cx="1417320" cy="274320"/>
          </a:xfrm>
          <a:prstGeom prst="roundRect">
            <a:avLst>
              <a:gd name="adj" fmla="val 46667"/>
            </a:avLst>
          </a:prstGeom>
          <a:solidFill>
            <a:srgbClr val="DDE8DF"/>
          </a:solidFill>
          <a:ln w="12700">
            <a:solidFill>
              <a:srgbClr val="DDE8DF"/>
            </a:solidFill>
            <a:prstDash val="solid"/>
          </a:ln>
        </p:spPr>
      </p:sp>
      <p:sp>
        <p:nvSpPr>
          <p:cNvPr id="34" name="Text 31"/>
          <p:cNvSpPr/>
          <p:nvPr/>
        </p:nvSpPr>
        <p:spPr>
          <a:xfrm>
            <a:off x="9857232" y="3419856"/>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SCALE</a:t>
            </a:r>
            <a:endParaRPr lang="en-US" sz="750" dirty="0"/>
          </a:p>
        </p:txBody>
      </p:sp>
      <p:sp>
        <p:nvSpPr>
          <p:cNvPr id="35" name="Shape 32"/>
          <p:cNvSpPr/>
          <p:nvPr/>
        </p:nvSpPr>
        <p:spPr>
          <a:xfrm>
            <a:off x="530352" y="3858768"/>
            <a:ext cx="11109960" cy="438912"/>
          </a:xfrm>
          <a:prstGeom prst="roundRect">
            <a:avLst>
              <a:gd name="adj" fmla="val 12500"/>
            </a:avLst>
          </a:prstGeom>
          <a:solidFill>
            <a:srgbClr val="FBFAF3"/>
          </a:solidFill>
          <a:ln w="12700">
            <a:solidFill>
              <a:srgbClr val="D8DED8"/>
            </a:solidFill>
            <a:prstDash val="solid"/>
          </a:ln>
        </p:spPr>
      </p:sp>
      <p:sp>
        <p:nvSpPr>
          <p:cNvPr id="36" name="Text 33"/>
          <p:cNvSpPr/>
          <p:nvPr/>
        </p:nvSpPr>
        <p:spPr>
          <a:xfrm>
            <a:off x="713232" y="3913632"/>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Industry enterprise count</a:t>
            </a:r>
            <a:endParaRPr lang="en-US" sz="900" dirty="0"/>
          </a:p>
        </p:txBody>
      </p:sp>
      <p:sp>
        <p:nvSpPr>
          <p:cNvPr id="37" name="Text 34"/>
          <p:cNvSpPr/>
          <p:nvPr/>
        </p:nvSpPr>
        <p:spPr>
          <a:xfrm>
            <a:off x="3749040" y="3913632"/>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240.6k</a:t>
            </a:r>
            <a:endParaRPr lang="en-US" sz="1000" dirty="0"/>
          </a:p>
        </p:txBody>
      </p:sp>
      <p:sp>
        <p:nvSpPr>
          <p:cNvPr id="38" name="Text 35"/>
          <p:cNvSpPr/>
          <p:nvPr/>
        </p:nvSpPr>
        <p:spPr>
          <a:xfrm>
            <a:off x="5303520" y="3913632"/>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Return to positive YoY</a:t>
            </a:r>
            <a:endParaRPr lang="en-US" sz="880" dirty="0"/>
          </a:p>
        </p:txBody>
      </p:sp>
      <p:sp>
        <p:nvSpPr>
          <p:cNvPr id="39" name="Shape 36"/>
          <p:cNvSpPr/>
          <p:nvPr/>
        </p:nvSpPr>
        <p:spPr>
          <a:xfrm>
            <a:off x="9802368" y="3941064"/>
            <a:ext cx="1417320" cy="274320"/>
          </a:xfrm>
          <a:prstGeom prst="roundRect">
            <a:avLst>
              <a:gd name="adj" fmla="val 46667"/>
            </a:avLst>
          </a:prstGeom>
          <a:solidFill>
            <a:srgbClr val="DDE8DF"/>
          </a:solidFill>
          <a:ln w="12700">
            <a:solidFill>
              <a:srgbClr val="DDE8DF"/>
            </a:solidFill>
            <a:prstDash val="solid"/>
          </a:ln>
        </p:spPr>
      </p:sp>
      <p:sp>
        <p:nvSpPr>
          <p:cNvPr id="40" name="Text 37"/>
          <p:cNvSpPr/>
          <p:nvPr/>
        </p:nvSpPr>
        <p:spPr>
          <a:xfrm>
            <a:off x="9857232" y="3959352"/>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DEPTH</a:t>
            </a:r>
            <a:endParaRPr lang="en-US" sz="750" dirty="0"/>
          </a:p>
        </p:txBody>
      </p:sp>
      <p:sp>
        <p:nvSpPr>
          <p:cNvPr id="41" name="Shape 38"/>
          <p:cNvSpPr/>
          <p:nvPr/>
        </p:nvSpPr>
        <p:spPr>
          <a:xfrm>
            <a:off x="530352" y="4398264"/>
            <a:ext cx="11109960" cy="438912"/>
          </a:xfrm>
          <a:prstGeom prst="roundRect">
            <a:avLst>
              <a:gd name="adj" fmla="val 12500"/>
            </a:avLst>
          </a:prstGeom>
          <a:solidFill>
            <a:srgbClr val="FFFFFF"/>
          </a:solidFill>
          <a:ln w="12700">
            <a:solidFill>
              <a:srgbClr val="D8DED8"/>
            </a:solidFill>
            <a:prstDash val="solid"/>
          </a:ln>
        </p:spPr>
      </p:sp>
      <p:sp>
        <p:nvSpPr>
          <p:cNvPr id="42" name="Text 39"/>
          <p:cNvSpPr/>
          <p:nvPr/>
        </p:nvSpPr>
        <p:spPr>
          <a:xfrm>
            <a:off x="713232" y="4453128"/>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Revenue / worker</a:t>
            </a:r>
            <a:endParaRPr lang="en-US" sz="900" dirty="0"/>
          </a:p>
        </p:txBody>
      </p:sp>
      <p:sp>
        <p:nvSpPr>
          <p:cNvPr id="43" name="Text 40"/>
          <p:cNvSpPr/>
          <p:nvPr/>
        </p:nvSpPr>
        <p:spPr>
          <a:xfrm>
            <a:off x="3749040" y="4453128"/>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₫2.6bn</a:t>
            </a:r>
            <a:endParaRPr lang="en-US" sz="1000" dirty="0"/>
          </a:p>
        </p:txBody>
      </p:sp>
      <p:sp>
        <p:nvSpPr>
          <p:cNvPr id="44" name="Text 41"/>
          <p:cNvSpPr/>
          <p:nvPr/>
        </p:nvSpPr>
        <p:spPr>
          <a:xfrm>
            <a:off x="5303520" y="4453128"/>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Faster than inflation</a:t>
            </a:r>
            <a:endParaRPr lang="en-US" sz="880" dirty="0"/>
          </a:p>
        </p:txBody>
      </p:sp>
      <p:sp>
        <p:nvSpPr>
          <p:cNvPr id="45" name="Shape 42"/>
          <p:cNvSpPr/>
          <p:nvPr/>
        </p:nvSpPr>
        <p:spPr>
          <a:xfrm>
            <a:off x="9802368" y="4480560"/>
            <a:ext cx="1417320" cy="274320"/>
          </a:xfrm>
          <a:prstGeom prst="roundRect">
            <a:avLst>
              <a:gd name="adj" fmla="val 46667"/>
            </a:avLst>
          </a:prstGeom>
          <a:solidFill>
            <a:srgbClr val="DDE8DF"/>
          </a:solidFill>
          <a:ln w="12700">
            <a:solidFill>
              <a:srgbClr val="DDE8DF"/>
            </a:solidFill>
            <a:prstDash val="solid"/>
          </a:ln>
        </p:spPr>
      </p:sp>
      <p:sp>
        <p:nvSpPr>
          <p:cNvPr id="46" name="Text 43"/>
          <p:cNvSpPr/>
          <p:nvPr/>
        </p:nvSpPr>
        <p:spPr>
          <a:xfrm>
            <a:off x="9857232" y="4498848"/>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PRODUCTIVITY</a:t>
            </a:r>
            <a:endParaRPr lang="en-US" sz="750" dirty="0"/>
          </a:p>
        </p:txBody>
      </p:sp>
      <p:sp>
        <p:nvSpPr>
          <p:cNvPr id="47" name="Shape 44"/>
          <p:cNvSpPr/>
          <p:nvPr/>
        </p:nvSpPr>
        <p:spPr>
          <a:xfrm>
            <a:off x="530352" y="4937760"/>
            <a:ext cx="11109960" cy="438912"/>
          </a:xfrm>
          <a:prstGeom prst="roundRect">
            <a:avLst>
              <a:gd name="adj" fmla="val 12500"/>
            </a:avLst>
          </a:prstGeom>
          <a:solidFill>
            <a:srgbClr val="FBFAF3"/>
          </a:solidFill>
          <a:ln w="12700">
            <a:solidFill>
              <a:srgbClr val="D8DED8"/>
            </a:solidFill>
            <a:prstDash val="solid"/>
          </a:ln>
        </p:spPr>
      </p:sp>
      <p:sp>
        <p:nvSpPr>
          <p:cNvPr id="48" name="Text 45"/>
          <p:cNvSpPr/>
          <p:nvPr/>
        </p:nvSpPr>
        <p:spPr>
          <a:xfrm>
            <a:off x="713232" y="4992624"/>
            <a:ext cx="2743200" cy="292608"/>
          </a:xfrm>
          <a:prstGeom prst="rect">
            <a:avLst/>
          </a:prstGeom>
          <a:noFill/>
          <a:ln/>
        </p:spPr>
        <p:txBody>
          <a:bodyPr wrap="square" lIns="0" tIns="0" rIns="0" bIns="0" rtlCol="0" anchor="ctr"/>
          <a:lstStyle/>
          <a:p>
            <a:pPr indent="0" marL="0">
              <a:buNone/>
            </a:pPr>
            <a:r>
              <a:rPr lang="en-US" sz="900" b="1" dirty="0">
                <a:solidFill>
                  <a:srgbClr val="17211B"/>
                </a:solidFill>
                <a:latin typeface="Roboto" pitchFamily="34" charset="0"/>
                <a:ea typeface="Roboto" pitchFamily="34" charset="-122"/>
                <a:cs typeface="Roboto" pitchFamily="34" charset="-120"/>
              </a:rPr>
              <a:t>Final census revision</a:t>
            </a:r>
            <a:endParaRPr lang="en-US" sz="900" dirty="0"/>
          </a:p>
        </p:txBody>
      </p:sp>
      <p:sp>
        <p:nvSpPr>
          <p:cNvPr id="49" name="Text 46"/>
          <p:cNvSpPr/>
          <p:nvPr/>
        </p:nvSpPr>
        <p:spPr>
          <a:xfrm>
            <a:off x="3749040" y="4992624"/>
            <a:ext cx="1234440" cy="292608"/>
          </a:xfrm>
          <a:prstGeom prst="rect">
            <a:avLst/>
          </a:prstGeom>
          <a:noFill/>
          <a:ln/>
        </p:spPr>
        <p:txBody>
          <a:bodyPr wrap="square" lIns="0" tIns="0" rIns="0" bIns="0" rtlCol="0" anchor="ctr"/>
          <a:lstStyle/>
          <a:p>
            <a:pPr algn="ctr" indent="0" marL="0">
              <a:buNone/>
            </a:pPr>
            <a:r>
              <a:rPr lang="en-US" sz="1000" b="1" dirty="0">
                <a:solidFill>
                  <a:srgbClr val="0B3D2A"/>
                </a:solidFill>
                <a:latin typeface="Roboto" pitchFamily="34" charset="0"/>
                <a:ea typeface="Roboto" pitchFamily="34" charset="-122"/>
                <a:cs typeface="Roboto" pitchFamily="34" charset="-120"/>
              </a:rPr>
              <a:t>Dec-26</a:t>
            </a:r>
            <a:endParaRPr lang="en-US" sz="1000" dirty="0"/>
          </a:p>
        </p:txBody>
      </p:sp>
      <p:sp>
        <p:nvSpPr>
          <p:cNvPr id="50" name="Text 47"/>
          <p:cNvSpPr/>
          <p:nvPr/>
        </p:nvSpPr>
        <p:spPr>
          <a:xfrm>
            <a:off x="5303520" y="4992624"/>
            <a:ext cx="3977640" cy="292608"/>
          </a:xfrm>
          <a:prstGeom prst="rect">
            <a:avLst/>
          </a:prstGeom>
          <a:noFill/>
          <a:ln/>
        </p:spPr>
        <p:txBody>
          <a:bodyPr wrap="square" lIns="0" tIns="0" rIns="0" bIns="0" rtlCol="0" anchor="ctr"/>
          <a:lstStyle/>
          <a:p>
            <a:pPr indent="0" marL="0">
              <a:buNone/>
            </a:pPr>
            <a:r>
              <a:rPr lang="en-US" sz="880" dirty="0">
                <a:solidFill>
                  <a:srgbClr val="17211B"/>
                </a:solidFill>
                <a:latin typeface="Roboto" pitchFamily="34" charset="0"/>
                <a:ea typeface="Roboto" pitchFamily="34" charset="-122"/>
                <a:cs typeface="Roboto" pitchFamily="34" charset="-120"/>
              </a:rPr>
              <a:t>Small, explained variance</a:t>
            </a:r>
            <a:endParaRPr lang="en-US" sz="880" dirty="0"/>
          </a:p>
        </p:txBody>
      </p:sp>
      <p:sp>
        <p:nvSpPr>
          <p:cNvPr id="51" name="Shape 48"/>
          <p:cNvSpPr/>
          <p:nvPr/>
        </p:nvSpPr>
        <p:spPr>
          <a:xfrm>
            <a:off x="9802368" y="5020056"/>
            <a:ext cx="1417320" cy="274320"/>
          </a:xfrm>
          <a:prstGeom prst="roundRect">
            <a:avLst>
              <a:gd name="adj" fmla="val 46667"/>
            </a:avLst>
          </a:prstGeom>
          <a:solidFill>
            <a:srgbClr val="DDE8DF"/>
          </a:solidFill>
          <a:ln w="12700">
            <a:solidFill>
              <a:srgbClr val="DDE8DF"/>
            </a:solidFill>
            <a:prstDash val="solid"/>
          </a:ln>
        </p:spPr>
      </p:sp>
      <p:sp>
        <p:nvSpPr>
          <p:cNvPr id="52" name="Text 49"/>
          <p:cNvSpPr/>
          <p:nvPr/>
        </p:nvSpPr>
        <p:spPr>
          <a:xfrm>
            <a:off x="9857232" y="5038344"/>
            <a:ext cx="1307592" cy="219456"/>
          </a:xfrm>
          <a:prstGeom prst="rect">
            <a:avLst/>
          </a:prstGeom>
          <a:noFill/>
          <a:ln/>
        </p:spPr>
        <p:txBody>
          <a:bodyPr wrap="square" lIns="0" tIns="0" rIns="0" bIns="0" rtlCol="0" anchor="ctr"/>
          <a:lstStyle/>
          <a:p>
            <a:pPr algn="ctr" indent="0" marL="0">
              <a:buNone/>
            </a:pPr>
            <a:r>
              <a:rPr lang="en-US" sz="750" b="1" dirty="0">
                <a:solidFill>
                  <a:srgbClr val="0B3D2A"/>
                </a:solidFill>
                <a:latin typeface="Roboto" pitchFamily="34" charset="0"/>
                <a:ea typeface="Roboto" pitchFamily="34" charset="-122"/>
                <a:cs typeface="Roboto" pitchFamily="34" charset="-120"/>
              </a:rPr>
              <a:t>QUALITY</a:t>
            </a:r>
            <a:endParaRPr lang="en-US" sz="750" dirty="0"/>
          </a:p>
        </p:txBody>
      </p:sp>
      <p:sp>
        <p:nvSpPr>
          <p:cNvPr id="53" name="Shape 50"/>
          <p:cNvSpPr/>
          <p:nvPr/>
        </p:nvSpPr>
        <p:spPr>
          <a:xfrm>
            <a:off x="457200" y="5669280"/>
            <a:ext cx="11274552" cy="493776"/>
          </a:xfrm>
          <a:prstGeom prst="roundRect">
            <a:avLst>
              <a:gd name="adj" fmla="val 9259"/>
            </a:avLst>
          </a:prstGeom>
          <a:solidFill>
            <a:srgbClr val="DDE8DF"/>
          </a:solidFill>
          <a:ln w="12700">
            <a:solidFill>
              <a:srgbClr val="0B3D2A"/>
            </a:solidFill>
            <a:prstDash val="solid"/>
          </a:ln>
        </p:spPr>
      </p:sp>
      <p:sp>
        <p:nvSpPr>
          <p:cNvPr id="54" name="Text 51"/>
          <p:cNvSpPr/>
          <p:nvPr/>
        </p:nvSpPr>
        <p:spPr>
          <a:xfrm>
            <a:off x="621792" y="5742432"/>
            <a:ext cx="10927080" cy="320040"/>
          </a:xfrm>
          <a:prstGeom prst="rect">
            <a:avLst/>
          </a:prstGeom>
          <a:noFill/>
          <a:ln/>
        </p:spPr>
        <p:txBody>
          <a:bodyPr wrap="square" lIns="0" tIns="0" rIns="0" bIns="0" rtlCol="0" anchor="ctr"/>
          <a:lstStyle/>
          <a:p>
            <a:pPr indent="0" marL="0">
              <a:buNone/>
            </a:pPr>
            <a:r>
              <a:rPr lang="en-US" sz="940" i="1" dirty="0">
                <a:solidFill>
                  <a:srgbClr val="0B3D2A"/>
                </a:solidFill>
                <a:latin typeface="Roboto" pitchFamily="34" charset="0"/>
                <a:ea typeface="Roboto" pitchFamily="34" charset="-122"/>
                <a:cs typeface="Roboto" pitchFamily="34" charset="-120"/>
              </a:rPr>
              <a:t>Next update: reconcile the final December 2026 census with business-registration data and build cohort survival views by conversion status, sector and region.</a:t>
            </a:r>
            <a:endParaRPr lang="en-US" sz="9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IMPLICATIONS</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800" b="1" dirty="0">
                <a:solidFill>
                  <a:srgbClr val="17211B"/>
                </a:solidFill>
                <a:latin typeface="Roboto" pitchFamily="34" charset="0"/>
                <a:ea typeface="Roboto" pitchFamily="34" charset="-122"/>
                <a:cs typeface="Roboto" pitchFamily="34" charset="-120"/>
              </a:rPr>
              <a:t>Vietnam’s enterprise agenda should be managed as a conversion-and-scaling system, not a registration campaign</a:t>
            </a:r>
            <a:endParaRPr lang="en-US" sz="1800" dirty="0"/>
          </a:p>
        </p:txBody>
      </p:sp>
      <p:sp>
        <p:nvSpPr>
          <p:cNvPr id="4" name="Shape 2"/>
          <p:cNvSpPr/>
          <p:nvPr/>
        </p:nvSpPr>
        <p:spPr>
          <a:xfrm>
            <a:off x="457200" y="1170432"/>
            <a:ext cx="11274552" cy="0"/>
          </a:xfrm>
          <a:prstGeom prst="line">
            <a:avLst/>
          </a:prstGeom>
          <a:noFill/>
          <a:ln w="12700">
            <a:solidFill>
              <a:srgbClr val="C6A447"/>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https://www.nso.gov.vn/bai-top/2026/06/ket-qua-so-bo-tong-dieu-tra-kinh-te-nam-2026/; https://xaydungchinhsach.chinhphu.vn/toan-van-nghi-quyet-so-68-nq-tw-ve-phat-trien-kinh-te-tu-nhan-119250505101309949.htm; Sa.Partners synthesis</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Shape 5"/>
          <p:cNvSpPr/>
          <p:nvPr/>
        </p:nvSpPr>
        <p:spPr>
          <a:xfrm>
            <a:off x="566928" y="1463040"/>
            <a:ext cx="3474720" cy="3611880"/>
          </a:xfrm>
          <a:prstGeom prst="roundRect">
            <a:avLst>
              <a:gd name="adj" fmla="val 1579"/>
            </a:avLst>
          </a:prstGeom>
          <a:solidFill>
            <a:srgbClr val="DDE8DF"/>
          </a:solidFill>
          <a:ln w="12700">
            <a:solidFill>
              <a:srgbClr val="14543B"/>
            </a:solidFill>
            <a:prstDash val="solid"/>
          </a:ln>
        </p:spPr>
      </p:sp>
      <p:sp>
        <p:nvSpPr>
          <p:cNvPr id="9" name="Text 6"/>
          <p:cNvSpPr/>
          <p:nvPr/>
        </p:nvSpPr>
        <p:spPr>
          <a:xfrm>
            <a:off x="749808" y="1682496"/>
            <a:ext cx="502920" cy="384048"/>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01</a:t>
            </a:r>
            <a:endParaRPr lang="en-US" sz="1800" dirty="0"/>
          </a:p>
        </p:txBody>
      </p:sp>
      <p:sp>
        <p:nvSpPr>
          <p:cNvPr id="10" name="Text 7"/>
          <p:cNvSpPr/>
          <p:nvPr/>
        </p:nvSpPr>
        <p:spPr>
          <a:xfrm>
            <a:off x="1344168" y="1737360"/>
            <a:ext cx="233172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POLICYMAKERS</a:t>
            </a:r>
            <a:endParaRPr lang="en-US" sz="850" dirty="0"/>
          </a:p>
        </p:txBody>
      </p:sp>
      <p:sp>
        <p:nvSpPr>
          <p:cNvPr id="11" name="Text 8"/>
          <p:cNvSpPr/>
          <p:nvPr/>
        </p:nvSpPr>
        <p:spPr>
          <a:xfrm>
            <a:off x="749808" y="2331720"/>
            <a:ext cx="2971800" cy="658368"/>
          </a:xfrm>
          <a:prstGeom prst="rect">
            <a:avLst/>
          </a:prstGeom>
          <a:noFill/>
          <a:ln/>
        </p:spPr>
        <p:txBody>
          <a:bodyPr wrap="square" lIns="0" tIns="0" rIns="0" bIns="0" rtlCol="0" anchor="t"/>
          <a:lstStyle/>
          <a:p>
            <a:pPr indent="0" marL="0">
              <a:buNone/>
            </a:pPr>
            <a:r>
              <a:rPr lang="en-US" sz="1700" b="1" dirty="0">
                <a:solidFill>
                  <a:srgbClr val="0B3D2A"/>
                </a:solidFill>
                <a:latin typeface="Roboto" pitchFamily="34" charset="0"/>
                <a:ea typeface="Roboto" pitchFamily="34" charset="-122"/>
                <a:cs typeface="Roboto" pitchFamily="34" charset="-120"/>
              </a:rPr>
              <a:t>Define the target consistently</a:t>
            </a:r>
            <a:endParaRPr lang="en-US" sz="1700" dirty="0"/>
          </a:p>
        </p:txBody>
      </p:sp>
      <p:sp>
        <p:nvSpPr>
          <p:cNvPr id="12" name="Text 9"/>
          <p:cNvSpPr/>
          <p:nvPr/>
        </p:nvSpPr>
        <p:spPr>
          <a:xfrm>
            <a:off x="749808" y="3246120"/>
            <a:ext cx="2971800" cy="1005840"/>
          </a:xfrm>
          <a:prstGeom prst="rect">
            <a:avLst/>
          </a:prstGeom>
          <a:noFill/>
          <a:ln/>
        </p:spPr>
        <p:txBody>
          <a:bodyPr wrap="square" lIns="0" tIns="0" rIns="0" bIns="0" rtlCol="0" anchor="t"/>
          <a:lstStyle/>
          <a:p>
            <a:pPr indent="0" marL="0">
              <a:buNone/>
            </a:pPr>
            <a:r>
              <a:rPr lang="en-US" sz="1020" dirty="0">
                <a:solidFill>
                  <a:srgbClr val="17211B"/>
                </a:solidFill>
                <a:latin typeface="Roboto" pitchFamily="34" charset="0"/>
                <a:ea typeface="Roboto" pitchFamily="34" charset="-122"/>
                <a:cs typeface="Roboto" pitchFamily="34" charset="-120"/>
              </a:rPr>
              <a:t>Align registered, active and productive-enterprise measures; publish cohort survival.</a:t>
            </a:r>
            <a:endParaRPr lang="en-US" sz="1020" dirty="0"/>
          </a:p>
        </p:txBody>
      </p:sp>
      <p:sp>
        <p:nvSpPr>
          <p:cNvPr id="13" name="Shape 10"/>
          <p:cNvSpPr/>
          <p:nvPr/>
        </p:nvSpPr>
        <p:spPr>
          <a:xfrm>
            <a:off x="4352544" y="1463040"/>
            <a:ext cx="3474720" cy="3611880"/>
          </a:xfrm>
          <a:prstGeom prst="roundRect">
            <a:avLst>
              <a:gd name="adj" fmla="val 1579"/>
            </a:avLst>
          </a:prstGeom>
          <a:solidFill>
            <a:srgbClr val="F2EBD6"/>
          </a:solidFill>
          <a:ln w="12700">
            <a:solidFill>
              <a:srgbClr val="8C7A3A"/>
            </a:solidFill>
            <a:prstDash val="solid"/>
          </a:ln>
        </p:spPr>
      </p:sp>
      <p:sp>
        <p:nvSpPr>
          <p:cNvPr id="14" name="Text 11"/>
          <p:cNvSpPr/>
          <p:nvPr/>
        </p:nvSpPr>
        <p:spPr>
          <a:xfrm>
            <a:off x="4535424" y="1682496"/>
            <a:ext cx="502920" cy="384048"/>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02</a:t>
            </a:r>
            <a:endParaRPr lang="en-US" sz="1800" dirty="0"/>
          </a:p>
        </p:txBody>
      </p:sp>
      <p:sp>
        <p:nvSpPr>
          <p:cNvPr id="15" name="Text 12"/>
          <p:cNvSpPr/>
          <p:nvPr/>
        </p:nvSpPr>
        <p:spPr>
          <a:xfrm>
            <a:off x="5129784" y="1737360"/>
            <a:ext cx="233172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FINANCIAL INSTITUTIONS</a:t>
            </a:r>
            <a:endParaRPr lang="en-US" sz="850" dirty="0"/>
          </a:p>
        </p:txBody>
      </p:sp>
      <p:sp>
        <p:nvSpPr>
          <p:cNvPr id="16" name="Text 13"/>
          <p:cNvSpPr/>
          <p:nvPr/>
        </p:nvSpPr>
        <p:spPr>
          <a:xfrm>
            <a:off x="4535424" y="2331720"/>
            <a:ext cx="2971800" cy="658368"/>
          </a:xfrm>
          <a:prstGeom prst="rect">
            <a:avLst/>
          </a:prstGeom>
          <a:noFill/>
          <a:ln/>
        </p:spPr>
        <p:txBody>
          <a:bodyPr wrap="square" lIns="0" tIns="0" rIns="0" bIns="0" rtlCol="0" anchor="t"/>
          <a:lstStyle/>
          <a:p>
            <a:pPr indent="0" marL="0">
              <a:buNone/>
            </a:pPr>
            <a:r>
              <a:rPr lang="en-US" sz="1700" b="1" dirty="0">
                <a:solidFill>
                  <a:srgbClr val="0B3D2A"/>
                </a:solidFill>
                <a:latin typeface="Roboto" pitchFamily="34" charset="0"/>
                <a:ea typeface="Roboto" pitchFamily="34" charset="-122"/>
                <a:cs typeface="Roboto" pitchFamily="34" charset="-120"/>
              </a:rPr>
              <a:t>Underwrite the transition</a:t>
            </a:r>
            <a:endParaRPr lang="en-US" sz="1700" dirty="0"/>
          </a:p>
        </p:txBody>
      </p:sp>
      <p:sp>
        <p:nvSpPr>
          <p:cNvPr id="17" name="Text 14"/>
          <p:cNvSpPr/>
          <p:nvPr/>
        </p:nvSpPr>
        <p:spPr>
          <a:xfrm>
            <a:off x="4535424" y="3246120"/>
            <a:ext cx="2971800" cy="1005840"/>
          </a:xfrm>
          <a:prstGeom prst="rect">
            <a:avLst/>
          </a:prstGeom>
          <a:noFill/>
          <a:ln/>
        </p:spPr>
        <p:txBody>
          <a:bodyPr wrap="square" lIns="0" tIns="0" rIns="0" bIns="0" rtlCol="0" anchor="t"/>
          <a:lstStyle/>
          <a:p>
            <a:pPr indent="0" marL="0">
              <a:buNone/>
            </a:pPr>
            <a:r>
              <a:rPr lang="en-US" sz="1020" dirty="0">
                <a:solidFill>
                  <a:srgbClr val="17211B"/>
                </a:solidFill>
                <a:latin typeface="Roboto" pitchFamily="34" charset="0"/>
                <a:ea typeface="Roboto" pitchFamily="34" charset="-122"/>
                <a:cs typeface="Roboto" pitchFamily="34" charset="-120"/>
              </a:rPr>
              <a:t>Use invoice, payment and tax data to finance newly formalized firms safely.</a:t>
            </a:r>
            <a:endParaRPr lang="en-US" sz="1020" dirty="0"/>
          </a:p>
        </p:txBody>
      </p:sp>
      <p:sp>
        <p:nvSpPr>
          <p:cNvPr id="18" name="Shape 15"/>
          <p:cNvSpPr/>
          <p:nvPr/>
        </p:nvSpPr>
        <p:spPr>
          <a:xfrm>
            <a:off x="8138160" y="1463040"/>
            <a:ext cx="3474720" cy="3611880"/>
          </a:xfrm>
          <a:prstGeom prst="roundRect">
            <a:avLst>
              <a:gd name="adj" fmla="val 1579"/>
            </a:avLst>
          </a:prstGeom>
          <a:solidFill>
            <a:srgbClr val="DDE8DF"/>
          </a:solidFill>
          <a:ln w="12700">
            <a:solidFill>
              <a:srgbClr val="14543B"/>
            </a:solidFill>
            <a:prstDash val="solid"/>
          </a:ln>
        </p:spPr>
      </p:sp>
      <p:sp>
        <p:nvSpPr>
          <p:cNvPr id="19" name="Text 16"/>
          <p:cNvSpPr/>
          <p:nvPr/>
        </p:nvSpPr>
        <p:spPr>
          <a:xfrm>
            <a:off x="8321040" y="1682496"/>
            <a:ext cx="502920" cy="384048"/>
          </a:xfrm>
          <a:prstGeom prst="rect">
            <a:avLst/>
          </a:prstGeom>
          <a:noFill/>
          <a:ln/>
        </p:spPr>
        <p:txBody>
          <a:bodyPr wrap="square" lIns="0" tIns="0" rIns="0" bIns="0" rtlCol="0" anchor="ctr"/>
          <a:lstStyle/>
          <a:p>
            <a:pPr indent="0" marL="0">
              <a:buNone/>
            </a:pPr>
            <a:r>
              <a:rPr lang="en-US" sz="1800" b="1" dirty="0">
                <a:solidFill>
                  <a:srgbClr val="C6A447"/>
                </a:solidFill>
                <a:latin typeface="Roboto" pitchFamily="34" charset="0"/>
                <a:ea typeface="Roboto" pitchFamily="34" charset="-122"/>
                <a:cs typeface="Roboto" pitchFamily="34" charset="-120"/>
              </a:rPr>
              <a:t>03</a:t>
            </a:r>
            <a:endParaRPr lang="en-US" sz="1800" dirty="0"/>
          </a:p>
        </p:txBody>
      </p:sp>
      <p:sp>
        <p:nvSpPr>
          <p:cNvPr id="20" name="Text 17"/>
          <p:cNvSpPr/>
          <p:nvPr/>
        </p:nvSpPr>
        <p:spPr>
          <a:xfrm>
            <a:off x="8915400" y="1737360"/>
            <a:ext cx="2331720" cy="256032"/>
          </a:xfrm>
          <a:prstGeom prst="rect">
            <a:avLst/>
          </a:prstGeom>
          <a:noFill/>
          <a:ln/>
        </p:spPr>
        <p:txBody>
          <a:bodyPr wrap="square" lIns="0" tIns="0" rIns="0" bIns="0" rtlCol="0" anchor="ctr"/>
          <a:lstStyle/>
          <a:p>
            <a:pPr indent="0" marL="0">
              <a:buNone/>
            </a:pPr>
            <a:r>
              <a:rPr lang="en-US" sz="850" b="1" dirty="0">
                <a:solidFill>
                  <a:srgbClr val="66746B"/>
                </a:solidFill>
                <a:latin typeface="Roboto" pitchFamily="34" charset="0"/>
                <a:ea typeface="Roboto" pitchFamily="34" charset="-122"/>
                <a:cs typeface="Roboto" pitchFamily="34" charset="-120"/>
              </a:rPr>
              <a:t>B2B BUILDERS</a:t>
            </a:r>
            <a:endParaRPr lang="en-US" sz="850" dirty="0"/>
          </a:p>
        </p:txBody>
      </p:sp>
      <p:sp>
        <p:nvSpPr>
          <p:cNvPr id="21" name="Text 18"/>
          <p:cNvSpPr/>
          <p:nvPr/>
        </p:nvSpPr>
        <p:spPr>
          <a:xfrm>
            <a:off x="8321040" y="2331720"/>
            <a:ext cx="2971800" cy="658368"/>
          </a:xfrm>
          <a:prstGeom prst="rect">
            <a:avLst/>
          </a:prstGeom>
          <a:noFill/>
          <a:ln/>
        </p:spPr>
        <p:txBody>
          <a:bodyPr wrap="square" lIns="0" tIns="0" rIns="0" bIns="0" rtlCol="0" anchor="t"/>
          <a:lstStyle/>
          <a:p>
            <a:pPr indent="0" marL="0">
              <a:buNone/>
            </a:pPr>
            <a:r>
              <a:rPr lang="en-US" sz="1700" b="1" dirty="0">
                <a:solidFill>
                  <a:srgbClr val="0B3D2A"/>
                </a:solidFill>
                <a:latin typeface="Roboto" pitchFamily="34" charset="0"/>
                <a:ea typeface="Roboto" pitchFamily="34" charset="-122"/>
                <a:cs typeface="Roboto" pitchFamily="34" charset="-120"/>
              </a:rPr>
              <a:t>Bundle compliance with value</a:t>
            </a:r>
            <a:endParaRPr lang="en-US" sz="1700" dirty="0"/>
          </a:p>
        </p:txBody>
      </p:sp>
      <p:sp>
        <p:nvSpPr>
          <p:cNvPr id="22" name="Text 19"/>
          <p:cNvSpPr/>
          <p:nvPr/>
        </p:nvSpPr>
        <p:spPr>
          <a:xfrm>
            <a:off x="8321040" y="3246120"/>
            <a:ext cx="2971800" cy="1005840"/>
          </a:xfrm>
          <a:prstGeom prst="rect">
            <a:avLst/>
          </a:prstGeom>
          <a:noFill/>
          <a:ln/>
        </p:spPr>
        <p:txBody>
          <a:bodyPr wrap="square" lIns="0" tIns="0" rIns="0" bIns="0" rtlCol="0" anchor="t"/>
          <a:lstStyle/>
          <a:p>
            <a:pPr indent="0" marL="0">
              <a:buNone/>
            </a:pPr>
            <a:r>
              <a:rPr lang="en-US" sz="1020" dirty="0">
                <a:solidFill>
                  <a:srgbClr val="17211B"/>
                </a:solidFill>
                <a:latin typeface="Roboto" pitchFamily="34" charset="0"/>
                <a:ea typeface="Roboto" pitchFamily="34" charset="-122"/>
                <a:cs typeface="Roboto" pitchFamily="34" charset="-120"/>
              </a:rPr>
              <a:t>Win adoption by pairing mandatory workflows with credit, cash-flow and growth tools.</a:t>
            </a:r>
            <a:endParaRPr lang="en-US" sz="1020" dirty="0"/>
          </a:p>
        </p:txBody>
      </p:sp>
      <p:sp>
        <p:nvSpPr>
          <p:cNvPr id="23" name="Text 20"/>
          <p:cNvSpPr/>
          <p:nvPr/>
        </p:nvSpPr>
        <p:spPr>
          <a:xfrm>
            <a:off x="731520" y="5321808"/>
            <a:ext cx="10698480" cy="566928"/>
          </a:xfrm>
          <a:prstGeom prst="rect">
            <a:avLst/>
          </a:prstGeom>
          <a:noFill/>
          <a:ln/>
        </p:spPr>
        <p:txBody>
          <a:bodyPr wrap="square" lIns="0" tIns="0" rIns="0" bIns="0" rtlCol="0" anchor="ctr"/>
          <a:lstStyle/>
          <a:p>
            <a:pPr algn="ctr" indent="0" marL="0">
              <a:buNone/>
            </a:pPr>
            <a:r>
              <a:rPr lang="en-US" sz="1350" b="1" dirty="0">
                <a:solidFill>
                  <a:srgbClr val="0B3D2A"/>
                </a:solidFill>
                <a:latin typeface="Roboto" pitchFamily="34" charset="0"/>
                <a:ea typeface="Roboto" pitchFamily="34" charset="-122"/>
                <a:cs typeface="Roboto" pitchFamily="34" charset="-120"/>
              </a:rPr>
              <a:t>The evidence suggests the opportunity is not simply to create 1.14 million more legal entities. It is to build the infrastructure that helps them remain active, employ more people and generate more value.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5943600" cy="164592"/>
          </a:xfrm>
          <a:prstGeom prst="rect">
            <a:avLst/>
          </a:prstGeom>
          <a:noFill/>
          <a:ln/>
        </p:spPr>
        <p:txBody>
          <a:bodyPr wrap="square" lIns="0" tIns="0" rIns="0" bIns="0" rtlCol="0" anchor="ctr"/>
          <a:lstStyle/>
          <a:p>
            <a:pPr indent="0" marL="0">
              <a:buNone/>
            </a:pPr>
            <a:r>
              <a:rPr lang="en-US" sz="850" b="1" spc="110" kern="0" dirty="0">
                <a:solidFill>
                  <a:srgbClr val="8C7A3A"/>
                </a:solidFill>
                <a:latin typeface="Roboto" pitchFamily="34" charset="0"/>
                <a:ea typeface="Roboto" pitchFamily="34" charset="-122"/>
                <a:cs typeface="Roboto" pitchFamily="34" charset="-120"/>
              </a:rPr>
              <a:t>APPENDIX</a:t>
            </a:r>
            <a:endParaRPr lang="en-US" sz="850" dirty="0"/>
          </a:p>
        </p:txBody>
      </p:sp>
      <p:sp>
        <p:nvSpPr>
          <p:cNvPr id="3" name="Text 1"/>
          <p:cNvSpPr/>
          <p:nvPr/>
        </p:nvSpPr>
        <p:spPr>
          <a:xfrm>
            <a:off x="457200" y="448056"/>
            <a:ext cx="11155680" cy="530352"/>
          </a:xfrm>
          <a:prstGeom prst="rect">
            <a:avLst/>
          </a:prstGeom>
          <a:noFill/>
          <a:ln/>
        </p:spPr>
        <p:txBody>
          <a:bodyPr wrap="square" lIns="0" tIns="0" rIns="0" bIns="0" rtlCol="0" anchor="t"/>
          <a:lstStyle/>
          <a:p>
            <a:pPr indent="0" marL="0">
              <a:buNone/>
            </a:pPr>
            <a:r>
              <a:rPr lang="en-US" sz="1700" b="1" dirty="0">
                <a:solidFill>
                  <a:srgbClr val="17211B"/>
                </a:solidFill>
                <a:latin typeface="Roboto" pitchFamily="34" charset="0"/>
                <a:ea typeface="Roboto" pitchFamily="34" charset="-122"/>
                <a:cs typeface="Roboto" pitchFamily="34" charset="-120"/>
              </a:rPr>
              <a:t>Definitions and source notes are essential because administrative and census enterprise counts are not interchangeable</a:t>
            </a:r>
            <a:endParaRPr lang="en-US" sz="1700" dirty="0"/>
          </a:p>
        </p:txBody>
      </p:sp>
      <p:sp>
        <p:nvSpPr>
          <p:cNvPr id="4" name="Shape 2"/>
          <p:cNvSpPr/>
          <p:nvPr/>
        </p:nvSpPr>
        <p:spPr>
          <a:xfrm>
            <a:off x="457200" y="1170432"/>
            <a:ext cx="11274552" cy="0"/>
          </a:xfrm>
          <a:prstGeom prst="line">
            <a:avLst/>
          </a:prstGeom>
          <a:noFill/>
          <a:ln w="12700">
            <a:solidFill>
              <a:srgbClr val="D8DED8"/>
            </a:solidFill>
            <a:prstDash val="solid"/>
          </a:ln>
        </p:spPr>
      </p:sp>
      <p:sp>
        <p:nvSpPr>
          <p:cNvPr id="5" name="Text 3"/>
          <p:cNvSpPr/>
          <p:nvPr/>
        </p:nvSpPr>
        <p:spPr>
          <a:xfrm>
            <a:off x="457200" y="6473952"/>
            <a:ext cx="10012680" cy="182880"/>
          </a:xfrm>
          <a:prstGeom prst="rect">
            <a:avLst/>
          </a:prstGeom>
          <a:noFill/>
          <a:ln/>
        </p:spPr>
        <p:txBody>
          <a:bodyPr wrap="square" lIns="0" tIns="0" rIns="0" bIns="0" rtlCol="0" anchor="ctr"/>
          <a:lstStyle/>
          <a:p>
            <a:pPr indent="0" marL="0">
              <a:buNone/>
            </a:pPr>
            <a:r>
              <a:rPr lang="en-US" sz="680" dirty="0">
                <a:solidFill>
                  <a:srgbClr val="66746B"/>
                </a:solidFill>
                <a:latin typeface="Roboto" pitchFamily="34" charset="0"/>
                <a:ea typeface="Roboto" pitchFamily="34" charset="-122"/>
                <a:cs typeface="Roboto" pitchFamily="34" charset="-120"/>
              </a:rPr>
              <a:t>Source: https://vnexpress.net/ca-nuoc-co-gan-860-000-doanh-nghiep-dang-hoat-dong-5097010.html; https://www.nso.gov.vn/bai-top/2026/06/ket-qua-so-bo-tong-dieu-tra-kinh-te-nam-2026/; https://xaydungchinhsach.chinhphu.vn/toan-van-nghi-quyet-so-68-nq-tw-ve-phat-trien-kinh-te-tu-nhan-119250505101309949.htm</a:t>
            </a:r>
            <a:endParaRPr lang="en-US" sz="680" dirty="0"/>
          </a:p>
        </p:txBody>
      </p:sp>
      <p:sp>
        <p:nvSpPr>
          <p:cNvPr id="6" name="Shape 4"/>
          <p:cNvSpPr/>
          <p:nvPr/>
        </p:nvSpPr>
        <p:spPr>
          <a:xfrm>
            <a:off x="10716768" y="6428232"/>
            <a:ext cx="1234440" cy="384048"/>
          </a:xfrm>
          <a:prstGeom prst="rect">
            <a:avLst/>
          </a:prstGeom>
          <a:solidFill>
            <a:srgbClr val="062416"/>
          </a:solidFill>
          <a:ln w="12700">
            <a:solidFill>
              <a:srgbClr val="062416">
                <a:alpha val="0"/>
              </a:srgbClr>
            </a:solidFill>
            <a:prstDash val="solid"/>
          </a:ln>
        </p:spPr>
      </p:sp>
      <p:pic>
        <p:nvPicPr>
          <p:cNvPr id="7" name="Image 0" descr="C:\Users\gianthu.ho\Documents\strategize\public_policy_artifact\vietnam_enterprise_census_2026\sa_partners_logo.png">    </p:cNvPr>
          <p:cNvPicPr>
            <a:picLocks noChangeAspect="1"/>
          </p:cNvPicPr>
          <p:nvPr/>
        </p:nvPicPr>
        <p:blipFill>
          <a:blip r:embed="rId1"/>
          <a:stretch>
            <a:fillRect/>
          </a:stretch>
        </p:blipFill>
        <p:spPr>
          <a:xfrm>
            <a:off x="10780776" y="6464808"/>
            <a:ext cx="1097280" cy="310896"/>
          </a:xfrm>
          <a:prstGeom prst="rect">
            <a:avLst/>
          </a:prstGeom>
        </p:spPr>
      </p:pic>
      <p:sp>
        <p:nvSpPr>
          <p:cNvPr id="8" name="Text 5"/>
          <p:cNvSpPr/>
          <p:nvPr/>
        </p:nvSpPr>
        <p:spPr>
          <a:xfrm>
            <a:off x="594360" y="1417320"/>
            <a:ext cx="2971800" cy="502920"/>
          </a:xfrm>
          <a:prstGeom prst="rect">
            <a:avLst/>
          </a:prstGeom>
          <a:noFill/>
          <a:ln/>
        </p:spPr>
        <p:txBody>
          <a:bodyPr wrap="square" lIns="0" tIns="0" rIns="0" bIns="0" rtlCol="0" anchor="t"/>
          <a:lstStyle/>
          <a:p>
            <a:pPr indent="0" marL="0">
              <a:buNone/>
            </a:pPr>
            <a:r>
              <a:rPr lang="en-US" sz="1000" b="1" dirty="0">
                <a:solidFill>
                  <a:srgbClr val="0B3D2A"/>
                </a:solidFill>
                <a:latin typeface="Roboto" pitchFamily="34" charset="0"/>
                <a:ea typeface="Roboto" pitchFamily="34" charset="-122"/>
                <a:cs typeface="Roboto" pitchFamily="34" charset="-120"/>
              </a:rPr>
              <a:t>Active enterprise with business results</a:t>
            </a:r>
            <a:endParaRPr lang="en-US" sz="1000" dirty="0"/>
          </a:p>
        </p:txBody>
      </p:sp>
      <p:sp>
        <p:nvSpPr>
          <p:cNvPr id="9" name="Text 6"/>
          <p:cNvSpPr/>
          <p:nvPr/>
        </p:nvSpPr>
        <p:spPr>
          <a:xfrm>
            <a:off x="3703320" y="1417320"/>
            <a:ext cx="7589520" cy="621792"/>
          </a:xfrm>
          <a:prstGeom prst="rect">
            <a:avLst/>
          </a:prstGeom>
          <a:noFill/>
          <a:ln/>
        </p:spPr>
        <p:txBody>
          <a:bodyPr wrap="square" lIns="0" tIns="0" rIns="0" bIns="0" rtlCol="0" anchor="t"/>
          <a:lstStyle/>
          <a:p>
            <a:pPr indent="0" marL="0">
              <a:buNone/>
            </a:pPr>
            <a:r>
              <a:rPr lang="en-US" sz="880" dirty="0">
                <a:solidFill>
                  <a:srgbClr val="17211B"/>
                </a:solidFill>
                <a:latin typeface="Roboto" pitchFamily="34" charset="0"/>
                <a:ea typeface="Roboto" pitchFamily="34" charset="-122"/>
                <a:cs typeface="Roboto" pitchFamily="34" charset="-120"/>
              </a:rPr>
              <a:t>An enterprise that produced goods/services and had revenue or production/business costs during 2025. Excludes pre-operating, inactive, temporarily suspended and time-limited cessation cases.</a:t>
            </a:r>
            <a:endParaRPr lang="en-US" sz="880" dirty="0"/>
          </a:p>
        </p:txBody>
      </p:sp>
      <p:sp>
        <p:nvSpPr>
          <p:cNvPr id="10" name="Shape 7"/>
          <p:cNvSpPr/>
          <p:nvPr/>
        </p:nvSpPr>
        <p:spPr>
          <a:xfrm>
            <a:off x="594360" y="2167128"/>
            <a:ext cx="10698480" cy="0"/>
          </a:xfrm>
          <a:prstGeom prst="line">
            <a:avLst/>
          </a:prstGeom>
          <a:noFill/>
          <a:ln w="12700">
            <a:solidFill>
              <a:srgbClr val="D8DED8"/>
            </a:solidFill>
            <a:prstDash val="solid"/>
          </a:ln>
        </p:spPr>
      </p:sp>
      <p:sp>
        <p:nvSpPr>
          <p:cNvPr id="11" name="Text 8"/>
          <p:cNvSpPr/>
          <p:nvPr/>
        </p:nvSpPr>
        <p:spPr>
          <a:xfrm>
            <a:off x="594360" y="2377440"/>
            <a:ext cx="2971800" cy="502920"/>
          </a:xfrm>
          <a:prstGeom prst="rect">
            <a:avLst/>
          </a:prstGeom>
          <a:noFill/>
          <a:ln/>
        </p:spPr>
        <p:txBody>
          <a:bodyPr wrap="square" lIns="0" tIns="0" rIns="0" bIns="0" rtlCol="0" anchor="t"/>
          <a:lstStyle/>
          <a:p>
            <a:pPr indent="0" marL="0">
              <a:buNone/>
            </a:pPr>
            <a:r>
              <a:rPr lang="en-US" sz="1000" b="1" dirty="0">
                <a:solidFill>
                  <a:srgbClr val="0B3D2A"/>
                </a:solidFill>
                <a:latin typeface="Roboto" pitchFamily="34" charset="0"/>
                <a:ea typeface="Roboto" pitchFamily="34" charset="-122"/>
                <a:cs typeface="Roboto" pitchFamily="34" charset="-120"/>
              </a:rPr>
              <a:t>Preliminary results</a:t>
            </a:r>
            <a:endParaRPr lang="en-US" sz="1000" dirty="0"/>
          </a:p>
        </p:txBody>
      </p:sp>
      <p:sp>
        <p:nvSpPr>
          <p:cNvPr id="12" name="Text 9"/>
          <p:cNvSpPr/>
          <p:nvPr/>
        </p:nvSpPr>
        <p:spPr>
          <a:xfrm>
            <a:off x="3703320" y="2377440"/>
            <a:ext cx="7589520" cy="621792"/>
          </a:xfrm>
          <a:prstGeom prst="rect">
            <a:avLst/>
          </a:prstGeom>
          <a:noFill/>
          <a:ln/>
        </p:spPr>
        <p:txBody>
          <a:bodyPr wrap="square" lIns="0" tIns="0" rIns="0" bIns="0" rtlCol="0" anchor="t"/>
          <a:lstStyle/>
          <a:p>
            <a:pPr indent="0" marL="0">
              <a:buNone/>
            </a:pPr>
            <a:r>
              <a:rPr lang="en-US" sz="880" dirty="0">
                <a:solidFill>
                  <a:srgbClr val="17211B"/>
                </a:solidFill>
                <a:latin typeface="Roboto" pitchFamily="34" charset="0"/>
                <a:ea typeface="Roboto" pitchFamily="34" charset="-122"/>
                <a:cs typeface="Roboto" pitchFamily="34" charset="-120"/>
              </a:rPr>
              <a:t>The National Statistics Office states figures may be revised after checking, reconciliation and verification; official results are expected in December 2026.</a:t>
            </a:r>
            <a:endParaRPr lang="en-US" sz="880" dirty="0"/>
          </a:p>
        </p:txBody>
      </p:sp>
      <p:sp>
        <p:nvSpPr>
          <p:cNvPr id="13" name="Shape 10"/>
          <p:cNvSpPr/>
          <p:nvPr/>
        </p:nvSpPr>
        <p:spPr>
          <a:xfrm>
            <a:off x="594360" y="3127248"/>
            <a:ext cx="10698480" cy="0"/>
          </a:xfrm>
          <a:prstGeom prst="line">
            <a:avLst/>
          </a:prstGeom>
          <a:noFill/>
          <a:ln w="12700">
            <a:solidFill>
              <a:srgbClr val="D8DED8"/>
            </a:solidFill>
            <a:prstDash val="solid"/>
          </a:ln>
        </p:spPr>
      </p:sp>
      <p:sp>
        <p:nvSpPr>
          <p:cNvPr id="14" name="Text 11"/>
          <p:cNvSpPr/>
          <p:nvPr/>
        </p:nvSpPr>
        <p:spPr>
          <a:xfrm>
            <a:off x="594360" y="3337560"/>
            <a:ext cx="2971800" cy="502920"/>
          </a:xfrm>
          <a:prstGeom prst="rect">
            <a:avLst/>
          </a:prstGeom>
          <a:noFill/>
          <a:ln/>
        </p:spPr>
        <p:txBody>
          <a:bodyPr wrap="square" lIns="0" tIns="0" rIns="0" bIns="0" rtlCol="0" anchor="t"/>
          <a:lstStyle/>
          <a:p>
            <a:pPr indent="0" marL="0">
              <a:buNone/>
            </a:pPr>
            <a:r>
              <a:rPr lang="en-US" sz="1000" b="1" dirty="0">
                <a:solidFill>
                  <a:srgbClr val="0B3D2A"/>
                </a:solidFill>
                <a:latin typeface="Roboto" pitchFamily="34" charset="0"/>
                <a:ea typeface="Roboto" pitchFamily="34" charset="-122"/>
                <a:cs typeface="Roboto" pitchFamily="34" charset="-120"/>
              </a:rPr>
              <a:t>Scenario convention</a:t>
            </a:r>
            <a:endParaRPr lang="en-US" sz="1000" dirty="0"/>
          </a:p>
        </p:txBody>
      </p:sp>
      <p:sp>
        <p:nvSpPr>
          <p:cNvPr id="15" name="Text 12"/>
          <p:cNvSpPr/>
          <p:nvPr/>
        </p:nvSpPr>
        <p:spPr>
          <a:xfrm>
            <a:off x="3703320" y="3337560"/>
            <a:ext cx="7589520" cy="621792"/>
          </a:xfrm>
          <a:prstGeom prst="rect">
            <a:avLst/>
          </a:prstGeom>
          <a:noFill/>
          <a:ln/>
        </p:spPr>
        <p:txBody>
          <a:bodyPr wrap="square" lIns="0" tIns="0" rIns="0" bIns="0" rtlCol="0" anchor="t"/>
          <a:lstStyle/>
          <a:p>
            <a:pPr indent="0" marL="0">
              <a:buNone/>
            </a:pPr>
            <a:r>
              <a:rPr lang="en-US" sz="880" dirty="0">
                <a:solidFill>
                  <a:srgbClr val="17211B"/>
                </a:solidFill>
                <a:latin typeface="Roboto" pitchFamily="34" charset="0"/>
                <a:ea typeface="Roboto" pitchFamily="34" charset="-122"/>
                <a:cs typeface="Roboto" pitchFamily="34" charset="-120"/>
              </a:rPr>
              <a:t>The 2030 scenario uses 859,048 as the 2025 base and treats the two-million target as if it shared the census definition. This is illustrative, not an official forecast.</a:t>
            </a:r>
            <a:endParaRPr lang="en-US" sz="880" dirty="0"/>
          </a:p>
        </p:txBody>
      </p:sp>
      <p:sp>
        <p:nvSpPr>
          <p:cNvPr id="16" name="Shape 13"/>
          <p:cNvSpPr/>
          <p:nvPr/>
        </p:nvSpPr>
        <p:spPr>
          <a:xfrm>
            <a:off x="594360" y="4087368"/>
            <a:ext cx="10698480" cy="0"/>
          </a:xfrm>
          <a:prstGeom prst="line">
            <a:avLst/>
          </a:prstGeom>
          <a:noFill/>
          <a:ln w="12700">
            <a:solidFill>
              <a:srgbClr val="D8DED8"/>
            </a:solidFill>
            <a:prstDash val="solid"/>
          </a:ln>
        </p:spPr>
      </p:sp>
      <p:sp>
        <p:nvSpPr>
          <p:cNvPr id="17" name="Text 14"/>
          <p:cNvSpPr/>
          <p:nvPr/>
        </p:nvSpPr>
        <p:spPr>
          <a:xfrm>
            <a:off x="594360" y="4297680"/>
            <a:ext cx="2971800" cy="502920"/>
          </a:xfrm>
          <a:prstGeom prst="rect">
            <a:avLst/>
          </a:prstGeom>
          <a:noFill/>
          <a:ln/>
        </p:spPr>
        <p:txBody>
          <a:bodyPr wrap="square" lIns="0" tIns="0" rIns="0" bIns="0" rtlCol="0" anchor="t"/>
          <a:lstStyle/>
          <a:p>
            <a:pPr indent="0" marL="0">
              <a:buNone/>
            </a:pPr>
            <a:r>
              <a:rPr lang="en-US" sz="1000" b="1" dirty="0">
                <a:solidFill>
                  <a:srgbClr val="0B3D2A"/>
                </a:solidFill>
                <a:latin typeface="Roboto" pitchFamily="34" charset="0"/>
                <a:ea typeface="Roboto" pitchFamily="34" charset="-122"/>
                <a:cs typeface="Roboto" pitchFamily="34" charset="-120"/>
              </a:rPr>
              <a:t>Derived figures</a:t>
            </a:r>
            <a:endParaRPr lang="en-US" sz="1000" dirty="0"/>
          </a:p>
        </p:txBody>
      </p:sp>
      <p:sp>
        <p:nvSpPr>
          <p:cNvPr id="18" name="Text 15"/>
          <p:cNvSpPr/>
          <p:nvPr/>
        </p:nvSpPr>
        <p:spPr>
          <a:xfrm>
            <a:off x="3703320" y="4297680"/>
            <a:ext cx="7589520" cy="621792"/>
          </a:xfrm>
          <a:prstGeom prst="rect">
            <a:avLst/>
          </a:prstGeom>
          <a:noFill/>
          <a:ln/>
        </p:spPr>
        <p:txBody>
          <a:bodyPr wrap="square" lIns="0" tIns="0" rIns="0" bIns="0" rtlCol="0" anchor="t"/>
          <a:lstStyle/>
          <a:p>
            <a:pPr indent="0" marL="0">
              <a:buNone/>
            </a:pPr>
            <a:r>
              <a:rPr lang="en-US" sz="880" dirty="0">
                <a:solidFill>
                  <a:srgbClr val="17211B"/>
                </a:solidFill>
                <a:latin typeface="Roboto" pitchFamily="34" charset="0"/>
                <a:ea typeface="Roboto" pitchFamily="34" charset="-122"/>
                <a:cs typeface="Roboto" pitchFamily="34" charset="-120"/>
              </a:rPr>
              <a:t>2020 and 2024 index values, ownership shares and CAGR calculations are reconstructed from reported levels and growth rates; rounding may create small differences.</a:t>
            </a:r>
            <a:endParaRPr lang="en-US" sz="880" dirty="0"/>
          </a:p>
        </p:txBody>
      </p:sp>
      <p:sp>
        <p:nvSpPr>
          <p:cNvPr id="19" name="Shape 16"/>
          <p:cNvSpPr/>
          <p:nvPr/>
        </p:nvSpPr>
        <p:spPr>
          <a:xfrm>
            <a:off x="594360" y="5047488"/>
            <a:ext cx="10698480" cy="0"/>
          </a:xfrm>
          <a:prstGeom prst="line">
            <a:avLst/>
          </a:prstGeom>
          <a:noFill/>
          <a:ln w="12700">
            <a:solidFill>
              <a:srgbClr val="D8DED8"/>
            </a:solidFill>
            <a:prstDash val="solid"/>
          </a:ln>
        </p:spPr>
      </p:sp>
      <p:sp>
        <p:nvSpPr>
          <p:cNvPr id="20" name="Shape 17"/>
          <p:cNvSpPr/>
          <p:nvPr/>
        </p:nvSpPr>
        <p:spPr>
          <a:xfrm>
            <a:off x="594360" y="5440680"/>
            <a:ext cx="10698480" cy="603504"/>
          </a:xfrm>
          <a:prstGeom prst="roundRect">
            <a:avLst>
              <a:gd name="adj" fmla="val 9091"/>
            </a:avLst>
          </a:prstGeom>
          <a:solidFill>
            <a:srgbClr val="062416"/>
          </a:solidFill>
          <a:ln w="12700">
            <a:solidFill>
              <a:srgbClr val="062416"/>
            </a:solidFill>
            <a:prstDash val="solid"/>
          </a:ln>
        </p:spPr>
      </p:sp>
      <p:sp>
        <p:nvSpPr>
          <p:cNvPr id="21" name="Text 18"/>
          <p:cNvSpPr/>
          <p:nvPr/>
        </p:nvSpPr>
        <p:spPr>
          <a:xfrm>
            <a:off x="804672" y="5559552"/>
            <a:ext cx="1417320" cy="274320"/>
          </a:xfrm>
          <a:prstGeom prst="rect">
            <a:avLst/>
          </a:prstGeom>
          <a:noFill/>
          <a:ln/>
        </p:spPr>
        <p:txBody>
          <a:bodyPr wrap="square" lIns="0" tIns="0" rIns="0" bIns="0" rtlCol="0" anchor="ctr"/>
          <a:lstStyle/>
          <a:p>
            <a:pPr indent="0" marL="0">
              <a:buNone/>
            </a:pPr>
            <a:r>
              <a:rPr lang="en-US" sz="900" b="1" dirty="0">
                <a:solidFill>
                  <a:srgbClr val="C6A447"/>
                </a:solidFill>
                <a:latin typeface="Roboto" pitchFamily="34" charset="0"/>
                <a:ea typeface="Roboto" pitchFamily="34" charset="-122"/>
                <a:cs typeface="Roboto" pitchFamily="34" charset="-120"/>
              </a:rPr>
              <a:t>Source hierarchy</a:t>
            </a:r>
            <a:endParaRPr lang="en-US" sz="900" dirty="0"/>
          </a:p>
        </p:txBody>
      </p:sp>
      <p:sp>
        <p:nvSpPr>
          <p:cNvPr id="22" name="Text 19"/>
          <p:cNvSpPr/>
          <p:nvPr/>
        </p:nvSpPr>
        <p:spPr>
          <a:xfrm>
            <a:off x="2331720" y="5532120"/>
            <a:ext cx="8641080" cy="347472"/>
          </a:xfrm>
          <a:prstGeom prst="rect">
            <a:avLst/>
          </a:prstGeom>
          <a:noFill/>
          <a:ln/>
        </p:spPr>
        <p:txBody>
          <a:bodyPr wrap="square" lIns="0" tIns="0" rIns="0" bIns="0" rtlCol="0" anchor="ctr"/>
          <a:lstStyle/>
          <a:p>
            <a:pPr indent="0" marL="0">
              <a:buNone/>
            </a:pPr>
            <a:r>
              <a:rPr lang="en-US" sz="850" dirty="0">
                <a:solidFill>
                  <a:srgbClr val="F6F1DF"/>
                </a:solidFill>
                <a:latin typeface="Roboto" pitchFamily="34" charset="0"/>
                <a:ea typeface="Roboto" pitchFamily="34" charset="-122"/>
                <a:cs typeface="Roboto" pitchFamily="34" charset="-120"/>
              </a:rPr>
              <a:t>1) National Statistics Office preliminary census report  2) Nghị quyết 68-NQ/TW  3) VnExpress news article as the publishing trigger  4) Sa.Partners calculations and interpretation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Vietnam's enterprise base is expanding, but scale is the binding constraint</dc:title>
  <dc:subject>Vietnam enterprise census 2026 — market report</dc:subject>
  <dc:creator>Sa.Partners</dc:creator>
  <cp:lastModifiedBy>Sa.Partners</cp:lastModifiedBy>
  <cp:revision>1</cp:revision>
  <dcterms:created xsi:type="dcterms:W3CDTF">2026-07-14T03:19:59Z</dcterms:created>
  <dcterms:modified xsi:type="dcterms:W3CDTF">2026-07-14T03:19:59Z</dcterms:modified>
</cp:coreProperties>
</file>